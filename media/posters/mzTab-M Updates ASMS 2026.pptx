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3"/>
  </p:notesMasterIdLst>
  <p:sldIdLst>
    <p:sldId id="282" r:id="rId2"/>
  </p:sldIdLst>
  <p:sldSz cx="43891200" cy="32918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747775"/>
          </p15:clr>
        </p15:guide>
        <p15:guide id="2" pos="138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897B"/>
    <a:srgbClr val="C09000"/>
    <a:srgbClr val="2E7D32"/>
    <a:srgbClr val="FFB79C"/>
    <a:srgbClr val="FFDB90"/>
    <a:srgbClr val="A1D39F"/>
    <a:srgbClr val="A0B6D2"/>
    <a:srgbClr val="C03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99"/>
    <p:restoredTop sz="94571"/>
  </p:normalViewPr>
  <p:slideViewPr>
    <p:cSldViewPr snapToGrid="0">
      <p:cViewPr>
        <p:scale>
          <a:sx n="364" d="100"/>
          <a:sy n="364" d="100"/>
        </p:scale>
        <p:origin x="-47424" y="-53528"/>
      </p:cViewPr>
      <p:guideLst>
        <p:guide orient="horz" pos="10368"/>
        <p:guide pos="13824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496200" y="4765280"/>
            <a:ext cx="40899000" cy="131367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1pPr>
            <a:lvl2pPr lvl="1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2pPr>
            <a:lvl3pPr lvl="2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3pPr>
            <a:lvl4pPr lvl="3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4pPr>
            <a:lvl5pPr lvl="4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5pPr>
            <a:lvl6pPr lvl="5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6pPr>
            <a:lvl7pPr lvl="6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7pPr>
            <a:lvl8pPr lvl="7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8pPr>
            <a:lvl9pPr lvl="8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496160" y="18138400"/>
            <a:ext cx="40899000" cy="50727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496160" y="13765440"/>
            <a:ext cx="40899000" cy="5387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4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7"/>
            </a:lvl2pPr>
            <a:lvl3pPr marL="1371600" lvl="2" indent="-702734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7"/>
            </a:lvl3pPr>
            <a:lvl4pPr marL="1828800" lvl="3" indent="-702734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7"/>
            </a:lvl4pPr>
            <a:lvl5pPr marL="2286000" lvl="4" indent="-702734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7"/>
            </a:lvl5pPr>
            <a:lvl6pPr marL="2743200" lvl="5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7"/>
            </a:lvl6pPr>
            <a:lvl7pPr marL="3200400" lvl="6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7"/>
            </a:lvl7pPr>
            <a:lvl8pPr marL="3657600" lvl="7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7"/>
            </a:lvl8pPr>
            <a:lvl9pPr marL="4114800" lvl="8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7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2734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7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2319552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2734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7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496160" y="3555840"/>
            <a:ext cx="13478400" cy="483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496160" y="8893440"/>
            <a:ext cx="13478400" cy="203481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2353200" y="2880960"/>
            <a:ext cx="30565500" cy="261810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1945600" y="-800"/>
            <a:ext cx="219456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87600" tIns="487600" rIns="487600" bIns="487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1274400" y="7892320"/>
            <a:ext cx="19416900" cy="948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274400" y="17939680"/>
            <a:ext cx="19416900" cy="79047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23709600" y="4634080"/>
            <a:ext cx="18417600" cy="23648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4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7"/>
            </a:lvl2pPr>
            <a:lvl3pPr marL="1371600" lvl="2" indent="-702734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7"/>
            </a:lvl3pPr>
            <a:lvl4pPr marL="1828800" lvl="3" indent="-702734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7"/>
            </a:lvl4pPr>
            <a:lvl5pPr marL="2286000" lvl="4" indent="-702734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7"/>
            </a:lvl5pPr>
            <a:lvl6pPr marL="2743200" lvl="5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7"/>
            </a:lvl6pPr>
            <a:lvl7pPr marL="3200400" lvl="6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7"/>
            </a:lvl7pPr>
            <a:lvl8pPr marL="3657600" lvl="7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7"/>
            </a:lvl8pPr>
            <a:lvl9pPr marL="4114800" lvl="8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7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496160" y="27075680"/>
            <a:ext cx="28794300" cy="3872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496160" y="7079200"/>
            <a:ext cx="40899000" cy="125664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496160" y="20174240"/>
            <a:ext cx="40899000" cy="83250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4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7"/>
            </a:lvl2pPr>
            <a:lvl3pPr marL="1371600" lvl="2" indent="-702734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7"/>
            </a:lvl3pPr>
            <a:lvl4pPr marL="1828800" lvl="3" indent="-702734" algn="ctr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7"/>
            </a:lvl4pPr>
            <a:lvl5pPr marL="2286000" lvl="4" indent="-702734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7"/>
            </a:lvl5pPr>
            <a:lvl6pPr marL="2743200" lvl="5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7"/>
            </a:lvl6pPr>
            <a:lvl7pPr marL="3200400" lvl="6" indent="-702733" algn="ctr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7"/>
            </a:lvl7pPr>
            <a:lvl8pPr marL="3657600" lvl="7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7"/>
            </a:lvl8pPr>
            <a:lvl9pPr marL="4114800" lvl="8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7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marL="914400" lvl="1" indent="-70273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7">
                <a:solidFill>
                  <a:schemeClr val="dk2"/>
                </a:solidFill>
              </a:defRPr>
            </a:lvl2pPr>
            <a:lvl3pPr marL="1371600" lvl="2" indent="-70273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7">
                <a:solidFill>
                  <a:schemeClr val="dk2"/>
                </a:solidFill>
              </a:defRPr>
            </a:lvl3pPr>
            <a:lvl4pPr marL="1828800" lvl="3" indent="-70273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●"/>
              <a:defRPr sz="7467">
                <a:solidFill>
                  <a:schemeClr val="dk2"/>
                </a:solidFill>
              </a:defRPr>
            </a:lvl4pPr>
            <a:lvl5pPr marL="2286000" lvl="4" indent="-70273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7">
                <a:solidFill>
                  <a:schemeClr val="dk2"/>
                </a:solidFill>
              </a:defRPr>
            </a:lvl5pPr>
            <a:lvl6pPr marL="2743200" lvl="5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7">
                <a:solidFill>
                  <a:schemeClr val="dk2"/>
                </a:solidFill>
              </a:defRPr>
            </a:lvl6pPr>
            <a:lvl7pPr marL="3200400" lvl="6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●"/>
              <a:defRPr sz="7467">
                <a:solidFill>
                  <a:schemeClr val="dk2"/>
                </a:solidFill>
              </a:defRPr>
            </a:lvl7pPr>
            <a:lvl8pPr marL="3657600" lvl="7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7">
                <a:solidFill>
                  <a:schemeClr val="dk2"/>
                </a:solidFill>
              </a:defRPr>
            </a:lvl8pPr>
            <a:lvl9pPr marL="4114800" lvl="8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7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r">
              <a:buNone/>
              <a:defRPr sz="5333">
                <a:solidFill>
                  <a:schemeClr val="dk2"/>
                </a:solidFill>
              </a:defRPr>
            </a:lvl1pPr>
            <a:lvl2pPr lvl="1" algn="r">
              <a:buNone/>
              <a:defRPr sz="5333">
                <a:solidFill>
                  <a:schemeClr val="dk2"/>
                </a:solidFill>
              </a:defRPr>
            </a:lvl2pPr>
            <a:lvl3pPr lvl="2" algn="r">
              <a:buNone/>
              <a:defRPr sz="5333">
                <a:solidFill>
                  <a:schemeClr val="dk2"/>
                </a:solidFill>
              </a:defRPr>
            </a:lvl3pPr>
            <a:lvl4pPr lvl="3" algn="r">
              <a:buNone/>
              <a:defRPr sz="5333">
                <a:solidFill>
                  <a:schemeClr val="dk2"/>
                </a:solidFill>
              </a:defRPr>
            </a:lvl4pPr>
            <a:lvl5pPr lvl="4" algn="r">
              <a:buNone/>
              <a:defRPr sz="5333">
                <a:solidFill>
                  <a:schemeClr val="dk2"/>
                </a:solidFill>
              </a:defRPr>
            </a:lvl5pPr>
            <a:lvl6pPr lvl="5" algn="r">
              <a:buNone/>
              <a:defRPr sz="5333">
                <a:solidFill>
                  <a:schemeClr val="dk2"/>
                </a:solidFill>
              </a:defRPr>
            </a:lvl6pPr>
            <a:lvl7pPr lvl="6" algn="r">
              <a:buNone/>
              <a:defRPr sz="5333">
                <a:solidFill>
                  <a:schemeClr val="dk2"/>
                </a:solidFill>
              </a:defRPr>
            </a:lvl7pPr>
            <a:lvl8pPr lvl="7" algn="r">
              <a:buNone/>
              <a:defRPr sz="5333">
                <a:solidFill>
                  <a:schemeClr val="dk2"/>
                </a:solidFill>
              </a:defRPr>
            </a:lvl8pPr>
            <a:lvl9pPr lvl="8" algn="r">
              <a:buNone/>
              <a:defRPr sz="5333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1A1A2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1A1A2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1A1A2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1A1A2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1A1A2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1A1A2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1A1A2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1A1A2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1A1A2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1A1A2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1A1A2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1A1A2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1A1A2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1A1A2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1A1A2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hyperlink" Target="http://github.com/HUPO-PSI/mzTab-M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://www.metabolomicshub.org/" TargetMode="External"/><Relationship Id="rId5" Type="http://schemas.openxmlformats.org/officeDocument/2006/relationships/hyperlink" Target="http://www.ebi.ac.uk/metabolights" TargetMode="External"/><Relationship Id="rId10" Type="http://schemas.openxmlformats.org/officeDocument/2006/relationships/image" Target="../media/image4.png"/><Relationship Id="rId4" Type="http://schemas.openxmlformats.org/officeDocument/2006/relationships/hyperlink" Target="https://hupo-psi.github.io/mzTab-M" TargetMode="Externa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DiagramBg"/>
          <p:cNvSpPr/>
          <p:nvPr/>
        </p:nvSpPr>
        <p:spPr>
          <a:xfrm>
            <a:off x="14992329" y="7122753"/>
            <a:ext cx="13970000" cy="13690600"/>
          </a:xfrm>
          <a:prstGeom prst="roundRect">
            <a:avLst>
              <a:gd name="adj" fmla="val 3000"/>
            </a:avLst>
          </a:prstGeom>
          <a:solidFill>
            <a:srgbClr val="F0F4F8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1" name="AckContent"/>
          <p:cNvSpPr/>
          <p:nvPr/>
        </p:nvSpPr>
        <p:spPr>
          <a:xfrm>
            <a:off x="29311600" y="21132800"/>
            <a:ext cx="13970000" cy="11328400"/>
          </a:xfrm>
          <a:prstGeom prst="roundRect">
            <a:avLst>
              <a:gd name="adj" fmla="val 3000"/>
            </a:avLst>
          </a:prstGeom>
          <a:solidFill>
            <a:srgbClr val="F0F4F8"/>
          </a:solidFill>
          <a:ln w="0">
            <a:noFill/>
          </a:ln>
        </p:spPr>
        <p:txBody>
          <a:bodyPr wrap="square" lIns="137160" tIns="91440" rIns="137160" bIns="91440" anchor="t"/>
          <a:lstStyle/>
          <a:p>
            <a:pPr marL="0" indent="0">
              <a:buNone/>
            </a:pPr>
            <a:endParaRPr lang="en-US" sz="3600" b="1" dirty="0">
              <a:solidFill>
                <a:srgbClr val="16213E"/>
              </a:solidFill>
              <a:latin typeface="Montserrat"/>
            </a:endParaRPr>
          </a:p>
          <a:p>
            <a:pPr marL="0" indent="0">
              <a:buNone/>
            </a:pPr>
            <a:endParaRPr lang="en-US" sz="3600" b="1" dirty="0">
              <a:solidFill>
                <a:srgbClr val="16213E"/>
              </a:solidFill>
              <a:latin typeface="Montserrat"/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Montserrat"/>
              </a:rPr>
              <a:t>References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400" dirty="0">
                <a:solidFill>
                  <a:srgbClr val="2D3748"/>
                </a:solidFill>
                <a:latin typeface="+mn-lt"/>
              </a:rPr>
              <a:t>Griss </a:t>
            </a:r>
            <a:r>
              <a:rPr lang="en-US" sz="2400" i="1" dirty="0">
                <a:solidFill>
                  <a:srgbClr val="2D3748"/>
                </a:solidFill>
                <a:latin typeface="+mn-lt"/>
              </a:rPr>
              <a:t>et al.</a:t>
            </a:r>
            <a:r>
              <a:rPr lang="en-US" sz="2400" dirty="0">
                <a:solidFill>
                  <a:srgbClr val="2D3748"/>
                </a:solidFill>
                <a:latin typeface="+mn-lt"/>
              </a:rPr>
              <a:t> (2014) MCP, 10.1074/mcp.O113.036681 (mzTab 1.0)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400" dirty="0">
                <a:solidFill>
                  <a:srgbClr val="2D3748"/>
                </a:solidFill>
                <a:latin typeface="+mn-lt"/>
              </a:rPr>
              <a:t>Hoffmann </a:t>
            </a:r>
            <a:r>
              <a:rPr lang="en-US" sz="2400" i="1" dirty="0">
                <a:solidFill>
                  <a:srgbClr val="2D3748"/>
                </a:solidFill>
                <a:latin typeface="+mn-lt"/>
              </a:rPr>
              <a:t>et al.</a:t>
            </a:r>
            <a:r>
              <a:rPr lang="en-US" sz="2400" dirty="0">
                <a:solidFill>
                  <a:srgbClr val="2D3748"/>
                </a:solidFill>
                <a:latin typeface="+mn-lt"/>
              </a:rPr>
              <a:t> (2019) Anal. Chem., 10.1021/acs.analchem.8b04310 (mzTab-M 2.0)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400" dirty="0">
                <a:solidFill>
                  <a:srgbClr val="2D3748"/>
                </a:solidFill>
                <a:latin typeface="+mn-lt"/>
              </a:rPr>
              <a:t>Martens </a:t>
            </a:r>
            <a:r>
              <a:rPr lang="en-US" sz="2400" i="1" dirty="0">
                <a:solidFill>
                  <a:srgbClr val="2D3748"/>
                </a:solidFill>
                <a:latin typeface="+mn-lt"/>
              </a:rPr>
              <a:t>et al. </a:t>
            </a:r>
            <a:r>
              <a:rPr lang="en-US" sz="2400" dirty="0">
                <a:solidFill>
                  <a:srgbClr val="2D3748"/>
                </a:solidFill>
                <a:latin typeface="+mn-lt"/>
              </a:rPr>
              <a:t>(2010) MCP, 10.1074/mcp.R110.000133 (</a:t>
            </a:r>
            <a:r>
              <a:rPr lang="en-US" sz="2400" dirty="0" err="1">
                <a:solidFill>
                  <a:srgbClr val="2D3748"/>
                </a:solidFill>
                <a:latin typeface="+mn-lt"/>
              </a:rPr>
              <a:t>mzML</a:t>
            </a:r>
            <a:r>
              <a:rPr lang="en-US" sz="2400" dirty="0">
                <a:solidFill>
                  <a:srgbClr val="2D3748"/>
                </a:solidFill>
                <a:latin typeface="+mn-lt"/>
              </a:rPr>
              <a:t>)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Deutsch </a:t>
            </a:r>
            <a:r>
              <a:rPr lang="en-US" sz="2400" i="1" dirty="0">
                <a:solidFill>
                  <a:schemeClr val="tx1"/>
                </a:solidFill>
                <a:latin typeface="+mn-lt"/>
              </a:rPr>
              <a:t>et al.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(2021) Nat. Methods., 10.1038/s41592-021-01184-6 (USI)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Klein </a:t>
            </a:r>
            <a:r>
              <a:rPr lang="en-US" sz="2400" i="1" dirty="0">
                <a:solidFill>
                  <a:schemeClr val="tx1"/>
                </a:solidFill>
                <a:latin typeface="+mn-lt"/>
              </a:rPr>
              <a:t>et al.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(2024) Anal. Chem., 10.1021/acs.analchem.4c04091 (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mzSpecLib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&amp; 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mzPAF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)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400" dirty="0" err="1">
                <a:solidFill>
                  <a:schemeClr val="tx1"/>
                </a:solidFill>
                <a:latin typeface="+mn-lt"/>
              </a:rPr>
              <a:t>Bielow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400" i="1" dirty="0">
                <a:solidFill>
                  <a:schemeClr val="tx1"/>
                </a:solidFill>
                <a:latin typeface="+mn-lt"/>
              </a:rPr>
              <a:t>et al.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(2024) JASMS, 10.1021/jasms.4c00174 (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mzQC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)</a:t>
            </a:r>
            <a:endParaRPr lang="en-US" sz="3600" b="1" dirty="0">
              <a:solidFill>
                <a:srgbClr val="2D3748"/>
              </a:solidFill>
              <a:latin typeface="+mj-lt"/>
            </a:endParaRPr>
          </a:p>
          <a:p>
            <a:r>
              <a:rPr lang="en-US" sz="3600" b="1" dirty="0">
                <a:solidFill>
                  <a:schemeClr val="accent1"/>
                </a:solidFill>
                <a:latin typeface="+mj-lt"/>
              </a:rPr>
              <a:t>Acknowledgments</a:t>
            </a:r>
          </a:p>
          <a:p>
            <a:r>
              <a:rPr lang="en-US" sz="2400" dirty="0">
                <a:solidFill>
                  <a:schemeClr val="bg2"/>
                </a:solidFill>
                <a:latin typeface="+mn-lt"/>
              </a:rPr>
              <a:t>We would like to thank the following people for their help, support and feedback: Luca De Martino, Fiona Hui, Jeff Xia, Eisuke Hayakawa, </a:t>
            </a:r>
            <a:r>
              <a:rPr lang="en-US" sz="2400" dirty="0" err="1">
                <a:solidFill>
                  <a:schemeClr val="bg2"/>
                </a:solidFill>
                <a:latin typeface="+mn-lt"/>
              </a:rPr>
              <a:t>Mingxun</a:t>
            </a:r>
            <a:r>
              <a:rPr lang="en-US" sz="2400" dirty="0">
                <a:solidFill>
                  <a:schemeClr val="bg2"/>
                </a:solidFill>
                <a:latin typeface="+mn-lt"/>
              </a:rPr>
              <a:t> Wang, Pieter </a:t>
            </a:r>
            <a:r>
              <a:rPr lang="en-US" sz="2400" dirty="0" err="1">
                <a:solidFill>
                  <a:schemeClr val="bg2"/>
                </a:solidFill>
                <a:latin typeface="+mn-lt"/>
              </a:rPr>
              <a:t>Dorrestein</a:t>
            </a:r>
            <a:r>
              <a:rPr lang="en-US" sz="2400" dirty="0">
                <a:solidFill>
                  <a:schemeClr val="bg2"/>
                </a:solidFill>
                <a:latin typeface="+mn-lt"/>
              </a:rPr>
              <a:t>, Robin Schmid, Tomas </a:t>
            </a:r>
            <a:r>
              <a:rPr lang="en-US" sz="2400" dirty="0" err="1">
                <a:solidFill>
                  <a:schemeClr val="bg2"/>
                </a:solidFill>
                <a:latin typeface="+mn-lt"/>
              </a:rPr>
              <a:t>Pluskal</a:t>
            </a:r>
            <a:r>
              <a:rPr lang="en-US" sz="2400" dirty="0">
                <a:solidFill>
                  <a:schemeClr val="bg2"/>
                </a:solidFill>
                <a:latin typeface="+mn-lt"/>
              </a:rPr>
              <a:t>, Helge Hecht, Denise </a:t>
            </a:r>
            <a:r>
              <a:rPr lang="en-US" sz="2400" dirty="0" err="1">
                <a:solidFill>
                  <a:schemeClr val="bg2"/>
                </a:solidFill>
                <a:latin typeface="+mn-lt"/>
              </a:rPr>
              <a:t>Slenter</a:t>
            </a:r>
            <a:r>
              <a:rPr lang="en-US" sz="2400" dirty="0">
                <a:solidFill>
                  <a:schemeClr val="bg2"/>
                </a:solidFill>
                <a:latin typeface="+mn-lt"/>
              </a:rPr>
              <a:t>, Nikolas Kessler, Sagar Gore, Anna Eggers, Norman Storz, Guillaume Patoine, Johan Gustafsson, Michał </a:t>
            </a:r>
            <a:r>
              <a:rPr lang="en-US" sz="2400" dirty="0" err="1">
                <a:solidFill>
                  <a:schemeClr val="bg2"/>
                </a:solidFill>
                <a:latin typeface="+mn-lt"/>
              </a:rPr>
              <a:t>Burdukiewicz</a:t>
            </a:r>
            <a:r>
              <a:rPr lang="en-US" sz="2400" dirty="0">
                <a:solidFill>
                  <a:schemeClr val="bg2"/>
                </a:solidFill>
                <a:latin typeface="+mn-lt"/>
              </a:rPr>
              <a:t>. This work was carried out as part of the HUPO-PSI Metabolomics working group activities. It was further supported as project 14 “Proteomics and Metabolomics File Format Interoperability Fest” at the </a:t>
            </a:r>
            <a:r>
              <a:rPr lang="en-US" sz="2400" dirty="0" err="1">
                <a:solidFill>
                  <a:schemeClr val="bg2"/>
                </a:solidFill>
                <a:latin typeface="+mn-lt"/>
              </a:rPr>
              <a:t>BioHackathon</a:t>
            </a:r>
            <a:r>
              <a:rPr lang="en-US" sz="2400" dirty="0">
                <a:solidFill>
                  <a:schemeClr val="bg2"/>
                </a:solidFill>
                <a:latin typeface="+mn-lt"/>
              </a:rPr>
              <a:t> Europe 2025, Berlin, funded by ELIXIR Europe. </a:t>
            </a:r>
          </a:p>
          <a:p>
            <a:r>
              <a:rPr lang="en-US" sz="2400" dirty="0">
                <a:solidFill>
                  <a:schemeClr val="bg2"/>
                </a:solidFill>
                <a:latin typeface="+mn-lt"/>
              </a:rPr>
              <a:t>This work was supported by the German Network for Bioinformatics Infrastructure (</a:t>
            </a:r>
            <a:r>
              <a:rPr lang="en-US" sz="2400" dirty="0" err="1">
                <a:solidFill>
                  <a:schemeClr val="bg2"/>
                </a:solidFill>
                <a:latin typeface="+mn-lt"/>
              </a:rPr>
              <a:t>de.NBI</a:t>
            </a:r>
            <a:r>
              <a:rPr lang="en-US" sz="2400" dirty="0">
                <a:solidFill>
                  <a:schemeClr val="bg2"/>
                </a:solidFill>
                <a:latin typeface="+mn-lt"/>
              </a:rPr>
              <a:t>) and ELIXIR-DE (</a:t>
            </a:r>
            <a:r>
              <a:rPr lang="en-US" sz="2400" dirty="0" err="1">
                <a:solidFill>
                  <a:schemeClr val="bg2"/>
                </a:solidFill>
                <a:latin typeface="+mn-lt"/>
              </a:rPr>
              <a:t>Forschungszentrum</a:t>
            </a:r>
            <a:r>
              <a:rPr lang="en-US" sz="2400" dirty="0">
                <a:solidFill>
                  <a:schemeClr val="bg2"/>
                </a:solidFill>
                <a:latin typeface="+mn-lt"/>
              </a:rPr>
              <a:t> Jülich and W-de.NBI-006). The authors declare no competing financial interest.</a:t>
            </a:r>
            <a:endParaRPr lang="en-US" sz="3600" b="1" dirty="0">
              <a:solidFill>
                <a:srgbClr val="16213E"/>
              </a:solidFill>
              <a:latin typeface="Montserrat"/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Montserrat"/>
              </a:rPr>
              <a:t>Resources</a:t>
            </a:r>
          </a:p>
          <a:p>
            <a:pPr marL="571500" indent="-57150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D3748"/>
                </a:solidFill>
                <a:latin typeface="Source Sans Pro"/>
              </a:rPr>
              <a:t>HUPO-PSI </a:t>
            </a:r>
            <a:r>
              <a:rPr lang="en-US" sz="2400" dirty="0" err="1">
                <a:solidFill>
                  <a:srgbClr val="2D3748"/>
                </a:solidFill>
                <a:latin typeface="Source Sans Pro"/>
              </a:rPr>
              <a:t>mzTab</a:t>
            </a:r>
            <a:r>
              <a:rPr lang="en-US" sz="2400" dirty="0">
                <a:solidFill>
                  <a:srgbClr val="2D3748"/>
                </a:solidFill>
                <a:latin typeface="Source Sans Pro"/>
              </a:rPr>
              <a:t>-M specification: </a:t>
            </a:r>
            <a:r>
              <a:rPr lang="en-US" sz="2400" dirty="0">
                <a:solidFill>
                  <a:srgbClr val="2D3748"/>
                </a:solidFill>
                <a:latin typeface="Source Sans Pro"/>
                <a:hlinkClick r:id="rId3"/>
              </a:rPr>
              <a:t>github.com/HUPO-PSI/mzTab-M</a:t>
            </a:r>
            <a:r>
              <a:rPr lang="en-US" sz="2400" dirty="0">
                <a:solidFill>
                  <a:srgbClr val="2D3748"/>
                </a:solidFill>
                <a:latin typeface="Source Sans Pro"/>
              </a:rPr>
              <a:t> </a:t>
            </a:r>
          </a:p>
          <a:p>
            <a:pPr marL="571500" indent="-57150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D3748"/>
                </a:solidFill>
                <a:latin typeface="Source Sans Pro"/>
              </a:rPr>
              <a:t>Documentation Hub: </a:t>
            </a:r>
            <a:r>
              <a:rPr lang="en-US" sz="2400" dirty="0" err="1">
                <a:solidFill>
                  <a:srgbClr val="2D3748"/>
                </a:solidFill>
                <a:latin typeface="Source Sans Pro"/>
                <a:hlinkClick r:id="rId4"/>
              </a:rPr>
              <a:t>hupo-psi.github.io</a:t>
            </a:r>
            <a:r>
              <a:rPr lang="en-US" sz="2400" dirty="0">
                <a:solidFill>
                  <a:srgbClr val="2D3748"/>
                </a:solidFill>
                <a:latin typeface="Source Sans Pro"/>
                <a:hlinkClick r:id="rId4"/>
              </a:rPr>
              <a:t>/</a:t>
            </a:r>
            <a:r>
              <a:rPr lang="en-US" sz="2400" dirty="0" err="1">
                <a:solidFill>
                  <a:srgbClr val="2D3748"/>
                </a:solidFill>
                <a:latin typeface="Source Sans Pro"/>
                <a:hlinkClick r:id="rId4"/>
              </a:rPr>
              <a:t>mzTab</a:t>
            </a:r>
            <a:r>
              <a:rPr lang="en-US" sz="2400" dirty="0">
                <a:solidFill>
                  <a:srgbClr val="2D3748"/>
                </a:solidFill>
                <a:latin typeface="Source Sans Pro"/>
                <a:hlinkClick r:id="rId4"/>
              </a:rPr>
              <a:t>-M</a:t>
            </a:r>
            <a:endParaRPr lang="en-US" sz="2400" dirty="0">
              <a:solidFill>
                <a:srgbClr val="2D3748"/>
              </a:solidFill>
              <a:latin typeface="Source Sans Pro"/>
            </a:endParaRPr>
          </a:p>
          <a:p>
            <a:pPr marL="571500" indent="-57150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D3748"/>
                </a:solidFill>
                <a:latin typeface="Source Sans Pro"/>
              </a:rPr>
              <a:t>MetaboLights: </a:t>
            </a:r>
            <a:r>
              <a:rPr lang="en-US" sz="2400" dirty="0">
                <a:solidFill>
                  <a:srgbClr val="2D3748"/>
                </a:solidFill>
                <a:latin typeface="Source Sans Pro"/>
                <a:hlinkClick r:id="rId5"/>
              </a:rPr>
              <a:t>www.ebi.ac.uk/metabolights</a:t>
            </a:r>
            <a:endParaRPr lang="en-US" sz="2400" dirty="0">
              <a:solidFill>
                <a:srgbClr val="2D3748"/>
              </a:solidFill>
              <a:latin typeface="Source Sans Pro"/>
            </a:endParaRPr>
          </a:p>
          <a:p>
            <a:pPr marL="571500" indent="-57150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2D3748"/>
                </a:solidFill>
                <a:latin typeface="Source Sans Pro"/>
              </a:rPr>
              <a:t>MetabolomicsHub</a:t>
            </a:r>
            <a:r>
              <a:rPr lang="en-US" sz="2400" dirty="0">
                <a:solidFill>
                  <a:srgbClr val="2D3748"/>
                </a:solidFill>
                <a:latin typeface="Source Sans Pro"/>
              </a:rPr>
              <a:t>: </a:t>
            </a:r>
            <a:r>
              <a:rPr lang="en-US" sz="2400" dirty="0">
                <a:solidFill>
                  <a:srgbClr val="2D3748"/>
                </a:solidFill>
                <a:latin typeface="Source Sans Pro"/>
                <a:hlinkClick r:id="rId6"/>
              </a:rPr>
              <a:t>www.metabolomicshub.org/</a:t>
            </a:r>
            <a:r>
              <a:rPr lang="en-US" sz="2400" dirty="0">
                <a:solidFill>
                  <a:srgbClr val="2D3748"/>
                </a:solidFill>
                <a:latin typeface="Source Sans Pro"/>
              </a:rPr>
              <a:t> </a:t>
            </a:r>
          </a:p>
          <a:p>
            <a:endParaRPr lang="en-US" sz="3600" b="1" dirty="0">
              <a:solidFill>
                <a:schemeClr val="accent1"/>
              </a:solidFill>
              <a:latin typeface="+mj-lt"/>
            </a:endParaRPr>
          </a:p>
          <a:p>
            <a:r>
              <a:rPr lang="en-US" sz="3600" b="1" dirty="0">
                <a:solidFill>
                  <a:schemeClr val="accent1"/>
                </a:solidFill>
                <a:latin typeface="+mj-lt"/>
              </a:rPr>
              <a:t>Related Posters</a:t>
            </a:r>
          </a:p>
          <a:p>
            <a:r>
              <a:rPr lang="en-US" sz="3600" dirty="0">
                <a:solidFill>
                  <a:srgbClr val="2D3748"/>
                </a:solidFill>
                <a:latin typeface="Source Sans Pro"/>
              </a:rPr>
              <a:t>TP 319, WP 447, WP 520</a:t>
            </a:r>
          </a:p>
        </p:txBody>
      </p:sp>
      <p:sp>
        <p:nvSpPr>
          <p:cNvPr id="71" name="ResultsContent"/>
          <p:cNvSpPr/>
          <p:nvPr/>
        </p:nvSpPr>
        <p:spPr>
          <a:xfrm>
            <a:off x="14960600" y="21132800"/>
            <a:ext cx="13970000" cy="11328400"/>
          </a:xfrm>
          <a:prstGeom prst="roundRect">
            <a:avLst>
              <a:gd name="adj" fmla="val 3000"/>
            </a:avLst>
          </a:prstGeom>
          <a:solidFill>
            <a:srgbClr val="F0F4F8"/>
          </a:solidFill>
          <a:ln w="0">
            <a:noFill/>
          </a:ln>
        </p:spPr>
        <p:txBody>
          <a:bodyPr wrap="square" lIns="137160" tIns="91440" rIns="137160" bIns="91440" anchor="t"/>
          <a:lstStyle/>
          <a:p>
            <a:pPr marL="0" indent="0">
              <a:buNone/>
            </a:pPr>
            <a:endParaRPr lang="en-US" sz="3600" b="1" dirty="0">
              <a:solidFill>
                <a:srgbClr val="2E7D32"/>
              </a:solidFill>
              <a:latin typeface="Montserrat"/>
            </a:endParaRPr>
          </a:p>
          <a:p>
            <a:pPr marL="0" indent="0">
              <a:buNone/>
            </a:pPr>
            <a:endParaRPr lang="en-US" sz="3600" b="1" dirty="0">
              <a:solidFill>
                <a:srgbClr val="2E7D32"/>
              </a:solidFill>
              <a:latin typeface="Montserrat"/>
            </a:endParaRPr>
          </a:p>
          <a:p>
            <a:r>
              <a:rPr lang="en-US" sz="3600" b="1" dirty="0">
                <a:solidFill>
                  <a:schemeClr val="accent1"/>
                </a:solidFill>
                <a:latin typeface="Montserrat"/>
              </a:rPr>
              <a:t>INTEROPERABILITY EXERCISE – </a:t>
            </a:r>
            <a:br>
              <a:rPr lang="en-US" sz="3600" b="1" dirty="0">
                <a:solidFill>
                  <a:schemeClr val="accent1"/>
                </a:solidFill>
                <a:latin typeface="Montserrat"/>
              </a:rPr>
            </a:br>
            <a:r>
              <a:rPr lang="en-US" sz="3600" b="1" dirty="0">
                <a:solidFill>
                  <a:schemeClr val="accent1"/>
                </a:solidFill>
                <a:latin typeface="Montserrat"/>
              </a:rPr>
              <a:t>KEY RESULTS</a:t>
            </a:r>
          </a:p>
          <a:p>
            <a:endParaRPr lang="en-US" sz="3600" dirty="0">
              <a:solidFill>
                <a:srgbClr val="2D3748"/>
              </a:solidFill>
              <a:latin typeface="Source Sans Pro"/>
            </a:endParaRPr>
          </a:p>
          <a:p>
            <a:pPr marL="571500" indent="-571500">
              <a:buFont typeface="Wingdings" pitchFamily="2" charset="2"/>
              <a:buChar char="ü"/>
            </a:pPr>
            <a:r>
              <a:rPr lang="en-US" sz="3600" dirty="0">
                <a:solidFill>
                  <a:srgbClr val="2D3748"/>
                </a:solidFill>
                <a:latin typeface="Source Sans Pro"/>
              </a:rPr>
              <a:t>Established interoperability between multiple </a:t>
            </a:r>
            <a:br>
              <a:rPr lang="en-US" sz="3600" dirty="0">
                <a:solidFill>
                  <a:srgbClr val="2D3748"/>
                </a:solidFill>
                <a:latin typeface="Source Sans Pro"/>
              </a:rPr>
            </a:br>
            <a:r>
              <a:rPr lang="en-US" sz="3600" dirty="0">
                <a:solidFill>
                  <a:srgbClr val="2D3748"/>
                </a:solidFill>
                <a:latin typeface="Source Sans Pro"/>
              </a:rPr>
              <a:t>producers and consumers of mzTab-M</a:t>
            </a:r>
          </a:p>
          <a:p>
            <a:pPr marL="571500" indent="-571500">
              <a:buFont typeface="Wingdings" pitchFamily="2" charset="2"/>
              <a:buChar char="ü"/>
            </a:pPr>
            <a:r>
              <a:rPr lang="en-US" sz="3600" dirty="0">
                <a:solidFill>
                  <a:srgbClr val="2D3748"/>
                </a:solidFill>
                <a:latin typeface="Source Sans Pro"/>
              </a:rPr>
              <a:t>Collected broad test collection of </a:t>
            </a:r>
            <a:r>
              <a:rPr lang="en-US" sz="3600" dirty="0" err="1">
                <a:solidFill>
                  <a:srgbClr val="2D3748"/>
                </a:solidFill>
                <a:latin typeface="Source Sans Pro"/>
              </a:rPr>
              <a:t>mzTab</a:t>
            </a:r>
            <a:r>
              <a:rPr lang="en-US" sz="3600" dirty="0">
                <a:solidFill>
                  <a:srgbClr val="2D3748"/>
                </a:solidFill>
                <a:latin typeface="Source Sans Pro"/>
              </a:rPr>
              <a:t>-M </a:t>
            </a:r>
            <a:br>
              <a:rPr lang="en-US" sz="3600" dirty="0">
                <a:solidFill>
                  <a:srgbClr val="2D3748"/>
                </a:solidFill>
                <a:latin typeface="Source Sans Pro"/>
              </a:rPr>
            </a:br>
            <a:r>
              <a:rPr lang="en-US" sz="3600" dirty="0">
                <a:solidFill>
                  <a:srgbClr val="2D3748"/>
                </a:solidFill>
                <a:latin typeface="Source Sans Pro"/>
              </a:rPr>
              <a:t>files from diverse sources</a:t>
            </a:r>
          </a:p>
          <a:p>
            <a:pPr marL="571500" indent="-571500">
              <a:buFont typeface="Wingdings" pitchFamily="2" charset="2"/>
              <a:buChar char="ü"/>
            </a:pPr>
            <a:r>
              <a:rPr lang="en-US" sz="3600" dirty="0">
                <a:solidFill>
                  <a:srgbClr val="2D3748"/>
                </a:solidFill>
                <a:latin typeface="Source Sans Pro"/>
              </a:rPr>
              <a:t>Tested compatibility across tool combinations</a:t>
            </a:r>
          </a:p>
          <a:p>
            <a:pPr marL="571500" indent="-571500">
              <a:buFont typeface="Wingdings" pitchFamily="2" charset="2"/>
              <a:buChar char="ü"/>
            </a:pPr>
            <a:r>
              <a:rPr lang="en-US" sz="3600" dirty="0">
                <a:solidFill>
                  <a:srgbClr val="2D3748"/>
                </a:solidFill>
                <a:latin typeface="Source Sans Pro"/>
              </a:rPr>
              <a:t>Reported errors and contributed fixes upstream</a:t>
            </a:r>
          </a:p>
          <a:p>
            <a:pPr marL="0" indent="0">
              <a:buNone/>
            </a:pPr>
            <a:endParaRPr lang="en-US" sz="3600" b="1" dirty="0">
              <a:solidFill>
                <a:srgbClr val="C62828"/>
              </a:solidFill>
              <a:latin typeface="Montserrat"/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Montserrat"/>
              </a:rPr>
              <a:t>Issues Identified</a:t>
            </a:r>
          </a:p>
          <a:p>
            <a:pPr marL="571500" indent="-57150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D3748"/>
                </a:solidFill>
                <a:latin typeface="Source Sans Pro"/>
              </a:rPr>
              <a:t>Examples missing or not sufficient to demonstrate complex setups</a:t>
            </a:r>
          </a:p>
          <a:p>
            <a:pPr marL="571500" indent="-57150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/>
                </a:solidFill>
                <a:latin typeface="Source Sans Pro"/>
              </a:rPr>
              <a:t>Inconsistencies in how tools represent study variables and metadata, need to enable iterative refinement of files in workflows</a:t>
            </a:r>
          </a:p>
          <a:p>
            <a:pPr marL="571500" indent="-57150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D3748"/>
                </a:solidFill>
                <a:latin typeface="Source Sans Pro"/>
              </a:rPr>
              <a:t>Missing protocol information for sample processing, chromatography, and MS details</a:t>
            </a:r>
          </a:p>
          <a:p>
            <a:pPr marL="571500" indent="-57150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D3748"/>
                </a:solidFill>
                <a:latin typeface="Source Sans Pro"/>
              </a:rPr>
              <a:t>Integration with other tools and resources</a:t>
            </a:r>
          </a:p>
        </p:txBody>
      </p:sp>
      <p:sp>
        <p:nvSpPr>
          <p:cNvPr id="31" name="ObjContent"/>
          <p:cNvSpPr/>
          <p:nvPr/>
        </p:nvSpPr>
        <p:spPr>
          <a:xfrm>
            <a:off x="609600" y="21154075"/>
            <a:ext cx="13970000" cy="11328400"/>
          </a:xfrm>
          <a:prstGeom prst="roundRect">
            <a:avLst>
              <a:gd name="adj" fmla="val 3000"/>
            </a:avLst>
          </a:prstGeom>
          <a:solidFill>
            <a:srgbClr val="F0F4F8"/>
          </a:solidFill>
          <a:ln w="0">
            <a:noFill/>
          </a:ln>
        </p:spPr>
        <p:txBody>
          <a:bodyPr wrap="square" lIns="137160" tIns="68580" rIns="137160" bIns="68580" anchor="t"/>
          <a:lstStyle/>
          <a:p>
            <a:pPr marL="342900" indent="-342900">
              <a:buNone/>
            </a:pPr>
            <a:endParaRPr lang="en-US" sz="3600" b="1" dirty="0">
              <a:solidFill>
                <a:srgbClr val="0F4C81"/>
              </a:solidFill>
              <a:latin typeface="Montserrat"/>
            </a:endParaRPr>
          </a:p>
          <a:p>
            <a:pPr marL="342900" indent="-342900">
              <a:buNone/>
            </a:pPr>
            <a:endParaRPr lang="en-US" sz="3600" dirty="0">
              <a:solidFill>
                <a:srgbClr val="2D3748"/>
              </a:solidFill>
              <a:latin typeface="Source Sans Pro"/>
            </a:endParaRPr>
          </a:p>
        </p:txBody>
      </p:sp>
      <p:sp>
        <p:nvSpPr>
          <p:cNvPr id="81" name="RoadmapContent"/>
          <p:cNvSpPr/>
          <p:nvPr/>
        </p:nvSpPr>
        <p:spPr>
          <a:xfrm>
            <a:off x="29311600" y="7188200"/>
            <a:ext cx="13970000" cy="13690600"/>
          </a:xfrm>
          <a:prstGeom prst="roundRect">
            <a:avLst>
              <a:gd name="adj" fmla="val 3000"/>
            </a:avLst>
          </a:prstGeom>
          <a:solidFill>
            <a:srgbClr val="F0F4F8"/>
          </a:solidFill>
          <a:ln w="0">
            <a:noFill/>
          </a:ln>
        </p:spPr>
        <p:txBody>
          <a:bodyPr wrap="square" lIns="137160" tIns="91440" rIns="137160" bIns="91440" anchor="t"/>
          <a:lstStyle/>
          <a:p>
            <a:pPr marL="0" indent="0">
              <a:buNone/>
            </a:pPr>
            <a:endParaRPr lang="en-US" sz="3600" dirty="0">
              <a:solidFill>
                <a:srgbClr val="2D3748"/>
              </a:solidFill>
              <a:latin typeface="Source Sans Pro"/>
            </a:endParaRPr>
          </a:p>
          <a:p>
            <a:pPr marL="0" indent="0">
              <a:buNone/>
            </a:pPr>
            <a:endParaRPr lang="en-US" sz="3600" dirty="0">
              <a:solidFill>
                <a:srgbClr val="2D3748"/>
              </a:solidFill>
              <a:latin typeface="Source Sans Pro"/>
            </a:endParaRPr>
          </a:p>
          <a:p>
            <a:pPr marL="0" indent="0">
              <a:buNone/>
            </a:pPr>
            <a:r>
              <a:rPr lang="en-US" sz="3600" dirty="0">
                <a:solidFill>
                  <a:srgbClr val="2D3748"/>
                </a:solidFill>
                <a:latin typeface="Source Sans Pro"/>
              </a:rPr>
              <a:t>The mzTab-M 2.1 draft remains largely backward-compatible with 2.0 while adding new features and resolving several issues. </a:t>
            </a:r>
          </a:p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/>
              </a:rPr>
              <a:t>Machine-Readable &amp; Agent-Friendly</a:t>
            </a:r>
          </a:p>
          <a:p>
            <a:pPr marL="571500" indent="-571500">
              <a:buFont typeface="Wingdings" pitchFamily="2" charset="2"/>
              <a:buChar char="ü"/>
            </a:pPr>
            <a:r>
              <a:rPr lang="en-US" sz="3600" dirty="0">
                <a:solidFill>
                  <a:srgbClr val="2D3748"/>
                </a:solidFill>
                <a:latin typeface="Source Sans Pro"/>
              </a:rPr>
              <a:t>Semantic enrichment through use of CV parameters</a:t>
            </a:r>
          </a:p>
          <a:p>
            <a:pPr marL="571500" indent="-571500">
              <a:buFont typeface="Wingdings" pitchFamily="2" charset="2"/>
              <a:buChar char="ü"/>
            </a:pPr>
            <a:r>
              <a:rPr lang="en-US" sz="3600" dirty="0">
                <a:solidFill>
                  <a:srgbClr val="2D3748"/>
                </a:solidFill>
                <a:latin typeface="Source Sans Pro"/>
              </a:rPr>
              <a:t>Agentic-AI skills to create </a:t>
            </a:r>
            <a:r>
              <a:rPr lang="en-US" sz="3600" dirty="0" err="1">
                <a:solidFill>
                  <a:srgbClr val="2D3748"/>
                </a:solidFill>
                <a:latin typeface="Source Sans Pro"/>
              </a:rPr>
              <a:t>mzTab</a:t>
            </a:r>
            <a:r>
              <a:rPr lang="en-US" sz="3600" dirty="0">
                <a:solidFill>
                  <a:srgbClr val="2D3748"/>
                </a:solidFill>
                <a:latin typeface="Source Sans Pro"/>
              </a:rPr>
              <a:t>-M files </a:t>
            </a:r>
            <a:endParaRPr lang="en-US" sz="3600" dirty="0">
              <a:solidFill>
                <a:schemeClr val="accent3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0F4C81"/>
                </a:solidFill>
                <a:latin typeface="Montserrat"/>
              </a:rPr>
              <a:t>Study Variable Groups</a:t>
            </a:r>
          </a:p>
          <a:p>
            <a:pPr marL="571500" indent="-571500">
              <a:buFont typeface="Wingdings" pitchFamily="2" charset="2"/>
              <a:buChar char="ü"/>
            </a:pPr>
            <a:r>
              <a:rPr lang="en-US" sz="3600" dirty="0">
                <a:solidFill>
                  <a:srgbClr val="2D3748"/>
                </a:solidFill>
                <a:latin typeface="Source Sans Pro"/>
              </a:rPr>
              <a:t>Added study variable groups for complex experimental designs</a:t>
            </a:r>
          </a:p>
          <a:p>
            <a:r>
              <a:rPr lang="en-US" sz="3600" b="1" dirty="0">
                <a:solidFill>
                  <a:schemeClr val="accent1"/>
                </a:solidFill>
                <a:latin typeface="+mj-lt"/>
              </a:rPr>
              <a:t>Interoperability with other HUPO-PSI Standards</a:t>
            </a:r>
          </a:p>
          <a:p>
            <a:pPr marL="571500" indent="-571500">
              <a:buFont typeface="Wingdings" pitchFamily="2" charset="2"/>
              <a:buChar char="ü"/>
            </a:pPr>
            <a:r>
              <a:rPr lang="en-US" sz="3600" dirty="0">
                <a:solidFill>
                  <a:srgbClr val="2D3748"/>
                </a:solidFill>
                <a:latin typeface="+mn-lt"/>
              </a:rPr>
              <a:t>Scan reference on evidence level to mzMLs</a:t>
            </a:r>
            <a:r>
              <a:rPr lang="en-US" sz="3600" baseline="30000" dirty="0">
                <a:solidFill>
                  <a:srgbClr val="2D3748"/>
                </a:solidFill>
                <a:latin typeface="+mn-lt"/>
              </a:rPr>
              <a:t>3</a:t>
            </a:r>
          </a:p>
          <a:p>
            <a:pPr marL="571500" indent="-571500">
              <a:buFont typeface="Wingdings" pitchFamily="2" charset="2"/>
              <a:buChar char="ü"/>
            </a:pPr>
            <a:r>
              <a:rPr lang="en-US" sz="3600" dirty="0">
                <a:solidFill>
                  <a:srgbClr val="2D3748"/>
                </a:solidFill>
                <a:latin typeface="+mn-lt"/>
              </a:rPr>
              <a:t>Integration of Universal Spectrum Identifier (</a:t>
            </a:r>
            <a:r>
              <a:rPr lang="en-US" sz="3600" b="1" dirty="0">
                <a:solidFill>
                  <a:schemeClr val="accent1"/>
                </a:solidFill>
                <a:latin typeface="+mn-lt"/>
              </a:rPr>
              <a:t>USI</a:t>
            </a:r>
            <a:r>
              <a:rPr lang="en-US" sz="3600" dirty="0">
                <a:solidFill>
                  <a:srgbClr val="2D3748"/>
                </a:solidFill>
                <a:latin typeface="+mn-lt"/>
              </a:rPr>
              <a:t>) for mass spectra</a:t>
            </a:r>
            <a:r>
              <a:rPr lang="en-US" sz="3600" baseline="30000" dirty="0">
                <a:solidFill>
                  <a:srgbClr val="2D3748"/>
                </a:solidFill>
                <a:latin typeface="+mn-lt"/>
              </a:rPr>
              <a:t>4</a:t>
            </a:r>
            <a:r>
              <a:rPr lang="en-US" sz="3600" dirty="0">
                <a:solidFill>
                  <a:srgbClr val="2D3748"/>
                </a:solidFill>
                <a:latin typeface="+mn-lt"/>
              </a:rPr>
              <a:t> </a:t>
            </a:r>
          </a:p>
          <a:p>
            <a:pPr marL="571500" indent="-571500">
              <a:buFont typeface="Wingdings" pitchFamily="2" charset="2"/>
              <a:buChar char="ü"/>
            </a:pPr>
            <a:r>
              <a:rPr lang="en-US" sz="3600" dirty="0">
                <a:solidFill>
                  <a:srgbClr val="2D3748"/>
                </a:solidFill>
                <a:latin typeface="+mn-lt"/>
              </a:rPr>
              <a:t>Referencing of </a:t>
            </a:r>
            <a:r>
              <a:rPr lang="en-US" sz="3600" b="1" dirty="0" err="1">
                <a:solidFill>
                  <a:schemeClr val="accent1"/>
                </a:solidFill>
                <a:latin typeface="+mn-lt"/>
              </a:rPr>
              <a:t>mzSpecLib</a:t>
            </a:r>
            <a:r>
              <a:rPr lang="en-US" sz="3600" dirty="0">
                <a:solidFill>
                  <a:srgbClr val="2D3748"/>
                </a:solidFill>
                <a:latin typeface="+mn-lt"/>
              </a:rPr>
              <a:t> mass spectral libraries and peak annotation format</a:t>
            </a:r>
            <a:r>
              <a:rPr lang="en-US" sz="3600" baseline="30000" dirty="0">
                <a:solidFill>
                  <a:srgbClr val="2D3748"/>
                </a:solidFill>
                <a:latin typeface="+mn-lt"/>
              </a:rPr>
              <a:t>5</a:t>
            </a:r>
            <a:endParaRPr lang="en-US" sz="3600" dirty="0">
              <a:solidFill>
                <a:srgbClr val="2D3748"/>
              </a:solidFill>
              <a:latin typeface="+mn-lt"/>
            </a:endParaRPr>
          </a:p>
          <a:p>
            <a:pPr marL="571500" indent="-571500">
              <a:buFont typeface="Wingdings" pitchFamily="2" charset="2"/>
              <a:buChar char="ü"/>
            </a:pPr>
            <a:r>
              <a:rPr lang="en-US" sz="3600" dirty="0">
                <a:solidFill>
                  <a:srgbClr val="2D3748"/>
                </a:solidFill>
                <a:latin typeface="+mn-lt"/>
              </a:rPr>
              <a:t>Referencing of </a:t>
            </a:r>
            <a:r>
              <a:rPr lang="en-US" sz="3600" b="1" dirty="0" err="1">
                <a:solidFill>
                  <a:schemeClr val="accent1"/>
                </a:solidFill>
                <a:latin typeface="+mn-lt"/>
              </a:rPr>
              <a:t>mzQC</a:t>
            </a:r>
            <a:r>
              <a:rPr lang="en-US" sz="3600" dirty="0">
                <a:solidFill>
                  <a:srgbClr val="2D3748"/>
                </a:solidFill>
                <a:latin typeface="+mn-lt"/>
              </a:rPr>
              <a:t> for mass spectral quality control data</a:t>
            </a:r>
            <a:r>
              <a:rPr lang="en-US" sz="3600" baseline="30000" dirty="0">
                <a:solidFill>
                  <a:srgbClr val="2D3748"/>
                </a:solidFill>
                <a:latin typeface="+mn-lt"/>
              </a:rPr>
              <a:t>6</a:t>
            </a:r>
          </a:p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Montserrat"/>
              </a:rPr>
              <a:t>Protocol Sections</a:t>
            </a:r>
          </a:p>
          <a:p>
            <a:pPr marL="571500" indent="-571500">
              <a:buFont typeface="Wingdings" pitchFamily="2" charset="2"/>
              <a:buChar char="ü"/>
            </a:pPr>
            <a:r>
              <a:rPr lang="en-US" sz="3600" dirty="0">
                <a:solidFill>
                  <a:srgbClr val="2D3748"/>
                </a:solidFill>
                <a:latin typeface="Source Sans Pro"/>
              </a:rPr>
              <a:t>Sample processing protocols</a:t>
            </a:r>
          </a:p>
          <a:p>
            <a:pPr marL="571500" indent="-571500">
              <a:buFont typeface="Wingdings" pitchFamily="2" charset="2"/>
              <a:buChar char="ü"/>
            </a:pPr>
            <a:r>
              <a:rPr lang="en-US" sz="3600" dirty="0">
                <a:solidFill>
                  <a:srgbClr val="2D3748"/>
                </a:solidFill>
                <a:latin typeface="Source Sans Pro"/>
              </a:rPr>
              <a:t>Chromatography details</a:t>
            </a:r>
          </a:p>
          <a:p>
            <a:pPr marL="571500" indent="-571500">
              <a:buFont typeface="Wingdings" pitchFamily="2" charset="2"/>
              <a:buChar char="ü"/>
            </a:pPr>
            <a:r>
              <a:rPr lang="en-US" sz="3600" dirty="0">
                <a:solidFill>
                  <a:srgbClr val="2D3748"/>
                </a:solidFill>
                <a:latin typeface="Source Sans Pro"/>
              </a:rPr>
              <a:t>Mass spectrometry acquisition parameters</a:t>
            </a:r>
          </a:p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Montserrat"/>
              </a:rPr>
              <a:t>Improved Validation</a:t>
            </a:r>
          </a:p>
          <a:p>
            <a:pPr marL="571500" indent="-571500">
              <a:buFont typeface="Wingdings" pitchFamily="2" charset="2"/>
              <a:buChar char="ü"/>
            </a:pPr>
            <a:r>
              <a:rPr lang="en-US" sz="3600" dirty="0">
                <a:solidFill>
                  <a:srgbClr val="2D3748"/>
                </a:solidFill>
                <a:latin typeface="Source Sans Pro"/>
              </a:rPr>
              <a:t>Enhanced semantic validation profiles and interoperability tests</a:t>
            </a:r>
          </a:p>
          <a:p>
            <a:r>
              <a:rPr lang="en-US" sz="3600" b="1" dirty="0">
                <a:solidFill>
                  <a:schemeClr val="accent1"/>
                </a:solidFill>
                <a:latin typeface="+mj-lt"/>
              </a:rPr>
              <a:t>Improved Documentation</a:t>
            </a:r>
          </a:p>
          <a:p>
            <a:pPr marL="571500" indent="-571500">
              <a:buFont typeface="Wingdings" pitchFamily="2" charset="2"/>
              <a:buChar char="ü"/>
            </a:pPr>
            <a:r>
              <a:rPr lang="en-US" sz="3600" dirty="0">
                <a:solidFill>
                  <a:srgbClr val="2D3748"/>
                </a:solidFill>
                <a:latin typeface="+mn-lt"/>
              </a:rPr>
              <a:t>Updated website structure for users and developers</a:t>
            </a:r>
          </a:p>
          <a:p>
            <a:pPr marL="571500" indent="-571500">
              <a:buFont typeface="Wingdings" pitchFamily="2" charset="2"/>
              <a:buChar char="ü"/>
            </a:pPr>
            <a:r>
              <a:rPr lang="en-US" sz="3600" dirty="0">
                <a:solidFill>
                  <a:srgbClr val="2D3748"/>
                </a:solidFill>
                <a:latin typeface="+mn-lt"/>
              </a:rPr>
              <a:t>New examples and updated links to implementations</a:t>
            </a:r>
          </a:p>
          <a:p>
            <a:endParaRPr lang="en-US" sz="3600" b="1" dirty="0">
              <a:solidFill>
                <a:srgbClr val="2D3748"/>
              </a:solidFill>
              <a:latin typeface="+mj-lt"/>
            </a:endParaRPr>
          </a:p>
        </p:txBody>
      </p:sp>
      <p:sp>
        <p:nvSpPr>
          <p:cNvPr id="21" name="IntroContent"/>
          <p:cNvSpPr/>
          <p:nvPr/>
        </p:nvSpPr>
        <p:spPr>
          <a:xfrm>
            <a:off x="609600" y="7188200"/>
            <a:ext cx="13970000" cy="13690600"/>
          </a:xfrm>
          <a:prstGeom prst="roundRect">
            <a:avLst>
              <a:gd name="adj" fmla="val 3000"/>
            </a:avLst>
          </a:prstGeom>
          <a:solidFill>
            <a:srgbClr val="F0F4F8"/>
          </a:solidFill>
          <a:ln w="0">
            <a:noFill/>
          </a:ln>
        </p:spPr>
        <p:txBody>
          <a:bodyPr wrap="square" lIns="137160" tIns="91440" rIns="137160" bIns="91440" anchor="t"/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2D3748"/>
              </a:solidFill>
              <a:latin typeface="Source Sans Pro"/>
            </a:endParaRPr>
          </a:p>
          <a:p>
            <a:endParaRPr lang="en-US" sz="3600" dirty="0">
              <a:solidFill>
                <a:srgbClr val="2D3748"/>
              </a:solidFill>
              <a:latin typeface="Source Sans Pro"/>
            </a:endParaRPr>
          </a:p>
          <a:p>
            <a:pPr marL="571500" indent="-571500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D3748"/>
                </a:solidFill>
                <a:latin typeface="Source Sans Pro"/>
              </a:rPr>
              <a:t>The </a:t>
            </a:r>
            <a:r>
              <a:rPr lang="en-US" sz="3600" b="1" dirty="0" err="1">
                <a:solidFill>
                  <a:srgbClr val="0F4C81"/>
                </a:solidFill>
                <a:latin typeface="Source Sans Pro"/>
              </a:rPr>
              <a:t>mzTab</a:t>
            </a:r>
            <a:r>
              <a:rPr lang="en-US" sz="3600" b="1" dirty="0">
                <a:solidFill>
                  <a:srgbClr val="0F4C81"/>
                </a:solidFill>
                <a:latin typeface="Source Sans Pro"/>
              </a:rPr>
              <a:t> format family</a:t>
            </a:r>
            <a:r>
              <a:rPr lang="en-US" sz="3600" dirty="0">
                <a:solidFill>
                  <a:srgbClr val="2D3748"/>
                </a:solidFill>
                <a:latin typeface="Source Sans Pro"/>
              </a:rPr>
              <a:t> was developed by the Proteomics Standards Initiative (PSI) to capture the design and both qualitative and quantitative results of mass spectrometry experiments</a:t>
            </a:r>
          </a:p>
          <a:p>
            <a:pPr marL="571500" indent="-571500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600" b="1" dirty="0" err="1">
                <a:solidFill>
                  <a:schemeClr val="accent1"/>
                </a:solidFill>
                <a:latin typeface="Source Sans Pro"/>
              </a:rPr>
              <a:t>mzTab</a:t>
            </a:r>
            <a:r>
              <a:rPr lang="en-US" sz="3600" b="1" dirty="0">
                <a:solidFill>
                  <a:schemeClr val="accent1"/>
                </a:solidFill>
                <a:latin typeface="Source Sans Pro"/>
              </a:rPr>
              <a:t> 1.0</a:t>
            </a:r>
            <a:r>
              <a:rPr lang="en-US" sz="3600" dirty="0">
                <a:solidFill>
                  <a:srgbClr val="2D3748"/>
                </a:solidFill>
                <a:latin typeface="Source Sans Pro"/>
              </a:rPr>
              <a:t> for Proteomics: adopted in some tools and as submission format for EMBL-EBI PRIDE repository (2014)</a:t>
            </a:r>
            <a:r>
              <a:rPr lang="en-US" sz="3600" baseline="30000" dirty="0">
                <a:solidFill>
                  <a:srgbClr val="2D3748"/>
                </a:solidFill>
                <a:latin typeface="Source Sans Pro"/>
              </a:rPr>
              <a:t>1</a:t>
            </a:r>
            <a:endParaRPr lang="en-US" sz="3600" dirty="0">
              <a:solidFill>
                <a:srgbClr val="2D3748"/>
              </a:solidFill>
              <a:latin typeface="Source Sans Pro"/>
            </a:endParaRPr>
          </a:p>
          <a:p>
            <a:pPr marL="571500" indent="-571500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600" b="1" dirty="0" err="1">
                <a:solidFill>
                  <a:schemeClr val="accent1"/>
                </a:solidFill>
                <a:latin typeface="Source Sans Pro"/>
              </a:rPr>
              <a:t>mzTab</a:t>
            </a:r>
            <a:r>
              <a:rPr lang="en-US" sz="3600" b="1" dirty="0">
                <a:solidFill>
                  <a:schemeClr val="accent1"/>
                </a:solidFill>
                <a:latin typeface="Source Sans Pro"/>
              </a:rPr>
              <a:t>-M 2.0</a:t>
            </a:r>
            <a:r>
              <a:rPr lang="en-US" sz="3600" dirty="0">
                <a:solidFill>
                  <a:schemeClr val="bg2"/>
                </a:solidFill>
                <a:latin typeface="Source Sans Pro"/>
              </a:rPr>
              <a:t>:</a:t>
            </a:r>
            <a:r>
              <a:rPr lang="en-US" sz="3600" dirty="0">
                <a:solidFill>
                  <a:srgbClr val="2D3748"/>
                </a:solidFill>
                <a:latin typeface="Source Sans Pro"/>
              </a:rPr>
              <a:t> new implementation for Metabolomics tools and data repositories (published 2019)</a:t>
            </a:r>
            <a:r>
              <a:rPr lang="en-US" sz="3600" baseline="30000" dirty="0">
                <a:solidFill>
                  <a:schemeClr val="bg2"/>
                </a:solidFill>
                <a:latin typeface="Source Sans Pro"/>
              </a:rPr>
              <a:t>2</a:t>
            </a:r>
            <a:endParaRPr lang="en-US" sz="3600" dirty="0">
              <a:solidFill>
                <a:schemeClr val="bg2"/>
              </a:solidFill>
              <a:latin typeface="Source Sans Pro"/>
            </a:endParaRPr>
          </a:p>
          <a:p>
            <a:pPr marL="571500" indent="-571500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D3748"/>
                </a:solidFill>
                <a:latin typeface="Source Sans Pro"/>
              </a:rPr>
              <a:t>Uses </a:t>
            </a:r>
            <a:r>
              <a:rPr lang="en-US" sz="3600" b="1" dirty="0">
                <a:solidFill>
                  <a:srgbClr val="0F4C81"/>
                </a:solidFill>
                <a:latin typeface="Source Sans Pro"/>
              </a:rPr>
              <a:t>ontologies</a:t>
            </a:r>
            <a:r>
              <a:rPr lang="en-US" sz="3600" dirty="0">
                <a:solidFill>
                  <a:srgbClr val="2D3748"/>
                </a:solidFill>
                <a:latin typeface="Source Sans Pro"/>
              </a:rPr>
              <a:t> for metadata and experimental outcomes (processed results) and for semantic validation</a:t>
            </a:r>
          </a:p>
          <a:p>
            <a:pPr marL="571500" indent="-571500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D3748"/>
                </a:solidFill>
                <a:latin typeface="Source Sans Pro"/>
              </a:rPr>
              <a:t>Interoperability between all producers and consumers was </a:t>
            </a:r>
            <a:r>
              <a:rPr lang="en-US" sz="3600" b="1" dirty="0">
                <a:solidFill>
                  <a:schemeClr val="accent1"/>
                </a:solidFill>
                <a:latin typeface="Source Sans Pro"/>
              </a:rPr>
              <a:t>not systematically evaluated</a:t>
            </a:r>
          </a:p>
          <a:p>
            <a:pPr marL="571500" indent="-571500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1"/>
                </a:solidFill>
                <a:latin typeface="Source Sans Pro"/>
              </a:rPr>
              <a:t>Limited community and vendor uptake due to limited repository support</a:t>
            </a:r>
          </a:p>
          <a:p>
            <a:pPr marL="571500" indent="-571500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/>
                </a:solidFill>
                <a:latin typeface="Source Sans Pro"/>
              </a:rPr>
              <a:t>Through different </a:t>
            </a:r>
            <a:r>
              <a:rPr lang="en-US" sz="3600" b="1" dirty="0">
                <a:solidFill>
                  <a:schemeClr val="accent1"/>
                </a:solidFill>
                <a:latin typeface="Source Sans Pro"/>
              </a:rPr>
              <a:t>joint activities</a:t>
            </a:r>
            <a:r>
              <a:rPr lang="en-US" sz="3600" dirty="0">
                <a:solidFill>
                  <a:schemeClr val="bg2"/>
                </a:solidFill>
                <a:latin typeface="Source Sans Pro"/>
              </a:rPr>
              <a:t>, we are </a:t>
            </a:r>
            <a:r>
              <a:rPr lang="en-US" sz="3600" b="1" dirty="0">
                <a:solidFill>
                  <a:schemeClr val="accent1"/>
                </a:solidFill>
                <a:latin typeface="Source Sans Pro"/>
              </a:rPr>
              <a:t>updating </a:t>
            </a:r>
            <a:r>
              <a:rPr lang="en-US" sz="3600" b="1" dirty="0" err="1">
                <a:solidFill>
                  <a:schemeClr val="accent1"/>
                </a:solidFill>
                <a:latin typeface="Source Sans Pro"/>
              </a:rPr>
              <a:t>mzTab</a:t>
            </a:r>
            <a:r>
              <a:rPr lang="en-US" sz="3600" b="1" dirty="0">
                <a:solidFill>
                  <a:schemeClr val="accent1"/>
                </a:solidFill>
                <a:latin typeface="Source Sans Pro"/>
              </a:rPr>
              <a:t>-M</a:t>
            </a:r>
            <a:r>
              <a:rPr lang="en-US" sz="3600" b="1" dirty="0">
                <a:solidFill>
                  <a:schemeClr val="bg2"/>
                </a:solidFill>
                <a:latin typeface="Source Sans Pro"/>
              </a:rPr>
              <a:t> </a:t>
            </a:r>
            <a:r>
              <a:rPr lang="en-US" sz="3600" b="1" dirty="0">
                <a:solidFill>
                  <a:schemeClr val="accent1"/>
                </a:solidFill>
                <a:latin typeface="Source Sans Pro"/>
              </a:rPr>
              <a:t>to version 2.1</a:t>
            </a:r>
            <a:r>
              <a:rPr lang="en-US" sz="3600" b="1" dirty="0">
                <a:solidFill>
                  <a:schemeClr val="bg2"/>
                </a:solidFill>
                <a:latin typeface="Source Sans Pro"/>
              </a:rPr>
              <a:t> </a:t>
            </a:r>
            <a:r>
              <a:rPr lang="en-US" sz="3600" dirty="0">
                <a:solidFill>
                  <a:schemeClr val="bg2"/>
                </a:solidFill>
                <a:latin typeface="Source Sans Pro"/>
              </a:rPr>
              <a:t>and at the same time </a:t>
            </a:r>
            <a:r>
              <a:rPr lang="en-US" sz="3600" b="1" dirty="0">
                <a:solidFill>
                  <a:schemeClr val="accent1"/>
                </a:solidFill>
                <a:latin typeface="Source Sans Pro"/>
              </a:rPr>
              <a:t>reaching out to software developers</a:t>
            </a:r>
            <a:r>
              <a:rPr lang="en-US" sz="3600" dirty="0">
                <a:solidFill>
                  <a:schemeClr val="bg2"/>
                </a:solidFill>
                <a:latin typeface="Source Sans Pro"/>
              </a:rPr>
              <a:t> (academic and commercial) to </a:t>
            </a:r>
            <a:r>
              <a:rPr lang="en-US" sz="3600" b="1" dirty="0">
                <a:solidFill>
                  <a:schemeClr val="accent1"/>
                </a:solidFill>
                <a:latin typeface="Source Sans Pro"/>
              </a:rPr>
              <a:t>support implementation</a:t>
            </a:r>
            <a:r>
              <a:rPr lang="en-US" sz="3600" dirty="0">
                <a:solidFill>
                  <a:schemeClr val="bg2"/>
                </a:solidFill>
                <a:latin typeface="Source Sans Pro"/>
              </a:rPr>
              <a:t> of </a:t>
            </a:r>
            <a:r>
              <a:rPr lang="en-US" sz="3600" dirty="0" err="1">
                <a:solidFill>
                  <a:schemeClr val="bg2"/>
                </a:solidFill>
                <a:latin typeface="Source Sans Pro"/>
              </a:rPr>
              <a:t>mzTab</a:t>
            </a:r>
            <a:r>
              <a:rPr lang="en-US" sz="3600" dirty="0">
                <a:solidFill>
                  <a:schemeClr val="bg2"/>
                </a:solidFill>
                <a:latin typeface="Source Sans Pro"/>
              </a:rPr>
              <a:t>-M</a:t>
            </a:r>
          </a:p>
        </p:txBody>
      </p:sp>
      <p:sp>
        <p:nvSpPr>
          <p:cNvPr id="10" name="HeaderBg"/>
          <p:cNvSpPr/>
          <p:nvPr/>
        </p:nvSpPr>
        <p:spPr>
          <a:xfrm>
            <a:off x="609600" y="279400"/>
            <a:ext cx="42672000" cy="6604000"/>
          </a:xfrm>
          <a:prstGeom prst="rect">
            <a:avLst/>
          </a:prstGeom>
          <a:solidFill>
            <a:srgbClr val="0F4C81"/>
          </a:solidFill>
          <a:ln w="0">
            <a:noFill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PosterTitle"/>
          <p:cNvSpPr/>
          <p:nvPr/>
        </p:nvSpPr>
        <p:spPr>
          <a:xfrm>
            <a:off x="990600" y="355600"/>
            <a:ext cx="41910000" cy="156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8800" b="1" dirty="0">
                <a:solidFill>
                  <a:srgbClr val="FFFFFF"/>
                </a:solidFill>
                <a:latin typeface="Montserrat"/>
              </a:rPr>
              <a:t>Towards </a:t>
            </a:r>
            <a:r>
              <a:rPr lang="en-US" sz="8800" b="1" dirty="0" err="1">
                <a:solidFill>
                  <a:srgbClr val="FFFFFF"/>
                </a:solidFill>
                <a:latin typeface="Montserrat"/>
              </a:rPr>
              <a:t>mzTab</a:t>
            </a:r>
            <a:r>
              <a:rPr lang="en-US" sz="8800" b="1" dirty="0">
                <a:solidFill>
                  <a:srgbClr val="FFFFFF"/>
                </a:solidFill>
                <a:latin typeface="Montserrat"/>
              </a:rPr>
              <a:t>-M 2.1 – Evolving the HUPO-PSI standard format and ecosystem for reporting of small molecule mass spectrometry results</a:t>
            </a:r>
            <a:endParaRPr lang="en-US" sz="8800" b="1" dirty="0">
              <a:solidFill>
                <a:srgbClr val="FFAB40"/>
              </a:solidFill>
              <a:latin typeface="Montserrat"/>
            </a:endParaRPr>
          </a:p>
        </p:txBody>
      </p:sp>
      <p:sp>
        <p:nvSpPr>
          <p:cNvPr id="12" name="AuthorBlock"/>
          <p:cNvSpPr/>
          <p:nvPr/>
        </p:nvSpPr>
        <p:spPr>
          <a:xfrm>
            <a:off x="990600" y="3334871"/>
            <a:ext cx="41783000" cy="345962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r>
              <a:rPr lang="en-US" sz="4000" dirty="0">
                <a:solidFill>
                  <a:srgbClr val="FFFFFF"/>
                </a:solidFill>
                <a:latin typeface="Source Sans Pro"/>
              </a:rPr>
              <a:t>Nils Hoffmann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1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Philippine Louail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2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Bo Burla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3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Yasin El Abiead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4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Eoin Fahy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5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Franck Giacomoni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6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Nicolas Guilhot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6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Jürgen Hartler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7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Steffen Heuckeroth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8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Ibrahim Karaman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9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Janik Kokot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10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Leonida M. Lamp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7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Christian Müller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11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Steffen Neumann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12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Kozo Nishida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13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Nils Paulhe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6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Thomas Payne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9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Mélanie Pétéra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6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Johannes Rainer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2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Adriano Rutz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14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Faustine Souc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6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Hiroshi Tsugawa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15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Juan Antonio Vizcaíno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9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Sofie Weinkouff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11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Ozgur Yurekten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9</a:t>
            </a:r>
            <a:r>
              <a:rPr lang="en-US" sz="4000" dirty="0">
                <a:solidFill>
                  <a:srgbClr val="B0C4DE"/>
                </a:solidFill>
                <a:latin typeface="Source Sans Pro"/>
              </a:rPr>
              <a:t>; </a:t>
            </a:r>
            <a:r>
              <a:rPr lang="en-US" sz="4000" dirty="0">
                <a:solidFill>
                  <a:srgbClr val="FFFFFF"/>
                </a:solidFill>
                <a:latin typeface="Source Sans Pro"/>
              </a:rPr>
              <a:t>Nicola Zamboni</a:t>
            </a:r>
            <a:r>
              <a:rPr lang="en-US" sz="4000" baseline="30000" dirty="0">
                <a:solidFill>
                  <a:srgbClr val="FFAB40"/>
                </a:solidFill>
                <a:latin typeface="Source Sans Pro"/>
              </a:rPr>
              <a:t>14</a:t>
            </a:r>
          </a:p>
          <a:p>
            <a:r>
              <a:rPr lang="en-US" sz="2400" b="1" baseline="30000" dirty="0">
                <a:solidFill>
                  <a:srgbClr val="FFAB40"/>
                </a:solidFill>
                <a:latin typeface="Source Sans Pro"/>
              </a:rPr>
              <a:t>1</a:t>
            </a:r>
            <a:r>
              <a:rPr lang="en-US" sz="2400" dirty="0">
                <a:solidFill>
                  <a:srgbClr val="E0E8F0"/>
                </a:solidFill>
                <a:latin typeface="Source Sans Pro"/>
              </a:rPr>
              <a:t>Forschungszentrum Jülich GmbH, Bielefeld, Germany; </a:t>
            </a:r>
            <a:r>
              <a:rPr lang="en-US" sz="2400" b="1" baseline="30000" dirty="0">
                <a:solidFill>
                  <a:srgbClr val="FFAB40"/>
                </a:solidFill>
                <a:latin typeface="Source Sans Pro"/>
              </a:rPr>
              <a:t>2</a:t>
            </a:r>
            <a:r>
              <a:rPr lang="en-US" sz="2400" dirty="0">
                <a:solidFill>
                  <a:srgbClr val="E0E8F0"/>
                </a:solidFill>
                <a:latin typeface="Source Sans Pro"/>
              </a:rPr>
              <a:t>Institute for Biomedicine, Eurac Research, Bolzano, Italy; </a:t>
            </a:r>
            <a:r>
              <a:rPr lang="en-US" sz="2400" b="1" baseline="30000" dirty="0">
                <a:solidFill>
                  <a:srgbClr val="FFAB40"/>
                </a:solidFill>
                <a:latin typeface="Source Sans Pro"/>
              </a:rPr>
              <a:t>3</a:t>
            </a:r>
            <a:r>
              <a:rPr lang="en-US" sz="2400" dirty="0">
                <a:solidFill>
                  <a:srgbClr val="E0E8F0"/>
                </a:solidFill>
                <a:latin typeface="Source Sans Pro"/>
              </a:rPr>
              <a:t>Singapore </a:t>
            </a:r>
            <a:r>
              <a:rPr lang="en-US" sz="2400" dirty="0" err="1">
                <a:solidFill>
                  <a:srgbClr val="E0E8F0"/>
                </a:solidFill>
                <a:latin typeface="Source Sans Pro"/>
              </a:rPr>
              <a:t>Lipidomics</a:t>
            </a:r>
            <a:r>
              <a:rPr lang="en-US" sz="2400" dirty="0">
                <a:solidFill>
                  <a:srgbClr val="E0E8F0"/>
                </a:solidFill>
                <a:latin typeface="Source Sans Pro"/>
              </a:rPr>
              <a:t> Incubator, Life Sciences Institute, NUS, Singapore; </a:t>
            </a:r>
            <a:r>
              <a:rPr lang="en-US" sz="2400" b="1" baseline="30000" dirty="0">
                <a:solidFill>
                  <a:srgbClr val="FFAB40"/>
                </a:solidFill>
                <a:latin typeface="Source Sans Pro"/>
              </a:rPr>
              <a:t>4</a:t>
            </a:r>
            <a:r>
              <a:rPr lang="en-US" sz="2400" dirty="0">
                <a:solidFill>
                  <a:srgbClr val="E0E8F0"/>
                </a:solidFill>
                <a:latin typeface="Source Sans Pro"/>
              </a:rPr>
              <a:t>Univ. of Natural Resources and Life Sciences Vienna, Dept. of Chemistry, Vienna, Austria; </a:t>
            </a:r>
            <a:r>
              <a:rPr lang="en-US" sz="2400" b="1" baseline="30000" dirty="0">
                <a:solidFill>
                  <a:srgbClr val="FFAB40"/>
                </a:solidFill>
                <a:latin typeface="Source Sans Pro"/>
              </a:rPr>
              <a:t>5</a:t>
            </a:r>
            <a:r>
              <a:rPr lang="en-US" sz="2400" dirty="0">
                <a:solidFill>
                  <a:srgbClr val="E0E8F0"/>
                </a:solidFill>
                <a:latin typeface="Source Sans Pro"/>
              </a:rPr>
              <a:t>Dept. of Bioengineering, University of California San Diego, La Jolla, CA, USA; </a:t>
            </a:r>
            <a:r>
              <a:rPr lang="en-US" sz="2400" b="1" baseline="30000" dirty="0">
                <a:solidFill>
                  <a:srgbClr val="FFAB40"/>
                </a:solidFill>
                <a:latin typeface="Source Sans Pro"/>
              </a:rPr>
              <a:t>6</a:t>
            </a:r>
            <a:r>
              <a:rPr lang="en-US" sz="2400" dirty="0">
                <a:solidFill>
                  <a:srgbClr val="E0E8F0"/>
                </a:solidFill>
                <a:latin typeface="Source Sans Pro"/>
              </a:rPr>
              <a:t>Université Clermont Auvergne, INRAE, UNH, MetaboHUB Clermont, Clermont-Ferrand, France; </a:t>
            </a:r>
            <a:r>
              <a:rPr lang="en-US" sz="2400" b="1" baseline="30000" dirty="0">
                <a:solidFill>
                  <a:srgbClr val="FFAB40"/>
                </a:solidFill>
                <a:latin typeface="Source Sans Pro"/>
              </a:rPr>
              <a:t>7</a:t>
            </a:r>
            <a:r>
              <a:rPr lang="en-US" sz="2400" dirty="0">
                <a:solidFill>
                  <a:srgbClr val="E0E8F0"/>
                </a:solidFill>
                <a:latin typeface="Source Sans Pro"/>
              </a:rPr>
              <a:t>Institute of Pharmaceutical Sciences, University of Graz, Graz, Austria; </a:t>
            </a:r>
            <a:r>
              <a:rPr lang="en-US" sz="2400" b="1" baseline="30000" dirty="0">
                <a:solidFill>
                  <a:srgbClr val="FFAB40"/>
                </a:solidFill>
                <a:latin typeface="Source Sans Pro"/>
              </a:rPr>
              <a:t>8</a:t>
            </a:r>
            <a:r>
              <a:rPr lang="en-US" sz="2400" dirty="0">
                <a:solidFill>
                  <a:srgbClr val="E0E8F0"/>
                </a:solidFill>
                <a:latin typeface="Source Sans Pro"/>
              </a:rPr>
              <a:t>mzio GmbH, Bremen, Germany; </a:t>
            </a:r>
            <a:r>
              <a:rPr lang="en-US" sz="2400" b="1" baseline="30000" dirty="0">
                <a:solidFill>
                  <a:srgbClr val="FFAB40"/>
                </a:solidFill>
                <a:latin typeface="Source Sans Pro"/>
              </a:rPr>
              <a:t>9</a:t>
            </a:r>
            <a:r>
              <a:rPr lang="en-US" sz="2400" dirty="0">
                <a:solidFill>
                  <a:srgbClr val="E0E8F0"/>
                </a:solidFill>
                <a:latin typeface="Source Sans Pro"/>
              </a:rPr>
              <a:t>EMBL-EBI, Hinxton, Cambridge, United Kingdom; </a:t>
            </a:r>
            <a:r>
              <a:rPr lang="en-US" sz="2400" b="1" baseline="30000" dirty="0">
                <a:solidFill>
                  <a:srgbClr val="FFAB40"/>
                </a:solidFill>
                <a:latin typeface="Source Sans Pro"/>
              </a:rPr>
              <a:t>10</a:t>
            </a:r>
            <a:r>
              <a:rPr lang="en-US" sz="2400" dirty="0">
                <a:solidFill>
                  <a:srgbClr val="E0E8F0"/>
                </a:solidFill>
                <a:latin typeface="Source Sans Pro"/>
              </a:rPr>
              <a:t>Institute of Human Genetics, Medical University of Innsbruck, Innsbruck, Austria; </a:t>
            </a:r>
            <a:r>
              <a:rPr lang="en-US" sz="2400" b="1" baseline="30000" dirty="0">
                <a:solidFill>
                  <a:srgbClr val="FFAB40"/>
                </a:solidFill>
                <a:latin typeface="Source Sans Pro"/>
              </a:rPr>
              <a:t>11</a:t>
            </a:r>
            <a:r>
              <a:rPr lang="en-US" sz="2400" dirty="0">
                <a:solidFill>
                  <a:srgbClr val="E0E8F0"/>
                </a:solidFill>
                <a:latin typeface="Source Sans Pro"/>
              </a:rPr>
              <a:t>Bruker Daltonics GmbH, Bremen, Germany; </a:t>
            </a:r>
            <a:r>
              <a:rPr lang="en-US" sz="2400" b="1" baseline="30000" dirty="0">
                <a:solidFill>
                  <a:srgbClr val="FFAB40"/>
                </a:solidFill>
                <a:latin typeface="Source Sans Pro"/>
              </a:rPr>
              <a:t>12</a:t>
            </a:r>
            <a:r>
              <a:rPr lang="en-US" sz="2400" dirty="0">
                <a:solidFill>
                  <a:srgbClr val="E0E8F0"/>
                </a:solidFill>
                <a:latin typeface="Source Sans Pro"/>
              </a:rPr>
              <a:t>Leibniz Institute of Plant Biochemistry, Halle, Germany; </a:t>
            </a:r>
            <a:r>
              <a:rPr lang="en-US" sz="2400" b="1" baseline="30000" dirty="0">
                <a:solidFill>
                  <a:srgbClr val="FFAB40"/>
                </a:solidFill>
                <a:latin typeface="Source Sans Pro"/>
              </a:rPr>
              <a:t>13</a:t>
            </a:r>
            <a:r>
              <a:rPr lang="en-US" sz="2400" dirty="0">
                <a:solidFill>
                  <a:srgbClr val="E0E8F0"/>
                </a:solidFill>
                <a:latin typeface="Source Sans Pro"/>
              </a:rPr>
              <a:t>RIKEN Center for Biosystems Dynamics Research, Kobe, Japan; </a:t>
            </a:r>
            <a:r>
              <a:rPr lang="en-US" sz="2400" b="1" baseline="30000" dirty="0">
                <a:solidFill>
                  <a:srgbClr val="FFAB40"/>
                </a:solidFill>
                <a:latin typeface="Source Sans Pro"/>
              </a:rPr>
              <a:t>14</a:t>
            </a:r>
            <a:r>
              <a:rPr lang="en-US" sz="2400" dirty="0">
                <a:solidFill>
                  <a:srgbClr val="E0E8F0"/>
                </a:solidFill>
                <a:latin typeface="Source Sans Pro"/>
              </a:rPr>
              <a:t>Institute of Molecular Systems Biology, ETH Zurich, Switzerland; </a:t>
            </a:r>
            <a:r>
              <a:rPr lang="en-US" sz="2400" b="1" baseline="30000" dirty="0">
                <a:solidFill>
                  <a:srgbClr val="FFAB40"/>
                </a:solidFill>
                <a:latin typeface="Source Sans Pro"/>
              </a:rPr>
              <a:t>15</a:t>
            </a:r>
            <a:r>
              <a:rPr lang="en-US" sz="2400" dirty="0">
                <a:solidFill>
                  <a:srgbClr val="E0E8F0"/>
                </a:solidFill>
                <a:latin typeface="Source Sans Pro"/>
              </a:rPr>
              <a:t>Dept. of Biotechnology and Life Science, Tokyo Univ. of Agriculture and Technology, Tokyo, Japan</a:t>
            </a:r>
            <a:endParaRPr lang="en-US" sz="3200" dirty="0">
              <a:solidFill>
                <a:srgbClr val="E0E8F0"/>
              </a:solidFill>
              <a:latin typeface="Source Sans Pro"/>
            </a:endParaRPr>
          </a:p>
        </p:txBody>
      </p:sp>
      <p:sp>
        <p:nvSpPr>
          <p:cNvPr id="20" name="IntroLabel"/>
          <p:cNvSpPr/>
          <p:nvPr/>
        </p:nvSpPr>
        <p:spPr>
          <a:xfrm>
            <a:off x="609600" y="7188200"/>
            <a:ext cx="13970000" cy="936000"/>
          </a:xfrm>
          <a:prstGeom prst="round2SameRect">
            <a:avLst/>
          </a:prstGeom>
          <a:solidFill>
            <a:srgbClr val="0F4C81"/>
          </a:solidFill>
          <a:ln w="0">
            <a:noFill/>
          </a:ln>
        </p:spPr>
        <p:txBody>
          <a:bodyPr wrap="square" lIns="137160" tIns="0" rIns="137160" bIns="0" anchor="ctr"/>
          <a:lstStyle/>
          <a:p>
            <a:pPr algn="l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/>
              </a:rPr>
              <a:t>INTRODUCTION</a:t>
            </a:r>
            <a:endParaRPr lang="en-US" sz="2800" b="1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30" name="ObjLabel"/>
          <p:cNvSpPr/>
          <p:nvPr/>
        </p:nvSpPr>
        <p:spPr>
          <a:xfrm>
            <a:off x="609600" y="21132800"/>
            <a:ext cx="13970000" cy="936000"/>
          </a:xfrm>
          <a:prstGeom prst="round2SameRect">
            <a:avLst/>
          </a:prstGeom>
          <a:solidFill>
            <a:schemeClr val="accent1"/>
          </a:solidFill>
          <a:ln w="0">
            <a:noFill/>
          </a:ln>
        </p:spPr>
        <p:txBody>
          <a:bodyPr wrap="square" lIns="137160" tIns="0" rIns="137160" bIns="0" anchor="ctr"/>
          <a:lstStyle/>
          <a:p>
            <a:pPr algn="l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/>
              </a:rPr>
              <a:t>FORMAT STRUCTURE &amp; VALIDATION</a:t>
            </a:r>
          </a:p>
        </p:txBody>
      </p:sp>
      <p:sp>
        <p:nvSpPr>
          <p:cNvPr id="40" name="EcoLabel"/>
          <p:cNvSpPr/>
          <p:nvPr/>
        </p:nvSpPr>
        <p:spPr>
          <a:xfrm>
            <a:off x="14960600" y="7188200"/>
            <a:ext cx="13970000" cy="936000"/>
          </a:xfrm>
          <a:prstGeom prst="round2SameRect">
            <a:avLst/>
          </a:prstGeom>
          <a:solidFill>
            <a:schemeClr val="accent1"/>
          </a:solidFill>
          <a:ln w="0">
            <a:noFill/>
          </a:ln>
        </p:spPr>
        <p:txBody>
          <a:bodyPr wrap="square" lIns="137160" tIns="0" rIns="137160" bIns="0" anchor="ctr"/>
          <a:lstStyle/>
          <a:p>
            <a:pPr algn="l">
              <a:buNone/>
            </a:pPr>
            <a:r>
              <a:rPr lang="en-US" sz="4000" b="1" dirty="0" err="1">
                <a:solidFill>
                  <a:srgbClr val="FFFFFF"/>
                </a:solidFill>
                <a:latin typeface="Montserrat"/>
              </a:rPr>
              <a:t>mzTab</a:t>
            </a:r>
            <a:r>
              <a:rPr lang="en-US" sz="4000" b="1" dirty="0">
                <a:solidFill>
                  <a:srgbClr val="FFFFFF"/>
                </a:solidFill>
                <a:latin typeface="Montserrat"/>
              </a:rPr>
              <a:t>-M 2.1 SOFTWARE ECOSYSTEM ROADMAP</a:t>
            </a:r>
          </a:p>
        </p:txBody>
      </p:sp>
      <p:sp>
        <p:nvSpPr>
          <p:cNvPr id="43" name="ProducerLabel"/>
          <p:cNvSpPr/>
          <p:nvPr/>
        </p:nvSpPr>
        <p:spPr>
          <a:xfrm>
            <a:off x="15627350" y="8644322"/>
            <a:ext cx="31750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4000" b="1" dirty="0">
                <a:solidFill>
                  <a:schemeClr val="accent1"/>
                </a:solidFill>
                <a:latin typeface="Montserrat"/>
              </a:rPr>
              <a:t>Producers</a:t>
            </a:r>
          </a:p>
        </p:txBody>
      </p:sp>
      <p:sp>
        <p:nvSpPr>
          <p:cNvPr id="44" name="ConsumerLabel"/>
          <p:cNvSpPr/>
          <p:nvPr/>
        </p:nvSpPr>
        <p:spPr>
          <a:xfrm>
            <a:off x="25152350" y="8644322"/>
            <a:ext cx="30480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4000" b="1" dirty="0">
                <a:solidFill>
                  <a:schemeClr val="accent1"/>
                </a:solidFill>
                <a:latin typeface="Montserrat"/>
              </a:rPr>
              <a:t>Consumers</a:t>
            </a:r>
          </a:p>
        </p:txBody>
      </p:sp>
      <p:sp>
        <p:nvSpPr>
          <p:cNvPr id="50" name="Prod_0"/>
          <p:cNvSpPr/>
          <p:nvPr/>
        </p:nvSpPr>
        <p:spPr>
          <a:xfrm>
            <a:off x="15278100" y="13003615"/>
            <a:ext cx="3873500" cy="635000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2600" b="1" dirty="0" err="1">
                <a:solidFill>
                  <a:srgbClr val="FFFFFF"/>
                </a:solidFill>
                <a:latin typeface="Source Sans Pro"/>
              </a:rPr>
              <a:t>mzmine</a:t>
            </a:r>
            <a:endParaRPr lang="en-US" sz="26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1" name="Prod_1"/>
          <p:cNvSpPr/>
          <p:nvPr/>
        </p:nvSpPr>
        <p:spPr>
          <a:xfrm>
            <a:off x="15278100" y="10613083"/>
            <a:ext cx="3873500" cy="63500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ource Sans Pro"/>
              </a:rPr>
              <a:t>MS-DIAL</a:t>
            </a:r>
          </a:p>
        </p:txBody>
      </p:sp>
      <p:sp>
        <p:nvSpPr>
          <p:cNvPr id="52" name="Prod_2"/>
          <p:cNvSpPr/>
          <p:nvPr/>
        </p:nvSpPr>
        <p:spPr>
          <a:xfrm>
            <a:off x="15278100" y="11409927"/>
            <a:ext cx="3873500" cy="63500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ource Sans Pro"/>
              </a:rPr>
              <a:t>xcms</a:t>
            </a:r>
          </a:p>
        </p:txBody>
      </p:sp>
      <p:sp>
        <p:nvSpPr>
          <p:cNvPr id="53" name="Prod_3"/>
          <p:cNvSpPr/>
          <p:nvPr/>
        </p:nvSpPr>
        <p:spPr>
          <a:xfrm>
            <a:off x="15278100" y="12206771"/>
            <a:ext cx="3873500" cy="63500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2600" b="1" dirty="0" err="1">
                <a:solidFill>
                  <a:srgbClr val="FFFFFF"/>
                </a:solidFill>
                <a:latin typeface="Source Sans Pro"/>
              </a:rPr>
              <a:t>RforMassSpectrometry</a:t>
            </a:r>
            <a:endParaRPr lang="en-US" sz="26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4" name="Cons_0"/>
          <p:cNvSpPr/>
          <p:nvPr/>
        </p:nvSpPr>
        <p:spPr>
          <a:xfrm>
            <a:off x="24739600" y="9816239"/>
            <a:ext cx="3873500" cy="63500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ource Sans Pro"/>
              </a:rPr>
              <a:t>MetaboAnalyst</a:t>
            </a:r>
          </a:p>
        </p:txBody>
      </p:sp>
      <p:sp>
        <p:nvSpPr>
          <p:cNvPr id="55" name="Cons_1"/>
          <p:cNvSpPr/>
          <p:nvPr/>
        </p:nvSpPr>
        <p:spPr>
          <a:xfrm>
            <a:off x="24739600" y="13035071"/>
            <a:ext cx="3873500" cy="635000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ource Sans Pro"/>
              </a:rPr>
              <a:t>GNPS</a:t>
            </a:r>
          </a:p>
        </p:txBody>
      </p:sp>
      <p:sp>
        <p:nvSpPr>
          <p:cNvPr id="56" name="Cons_2"/>
          <p:cNvSpPr/>
          <p:nvPr/>
        </p:nvSpPr>
        <p:spPr>
          <a:xfrm>
            <a:off x="24739600" y="10620947"/>
            <a:ext cx="3873500" cy="63500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ource Sans Pro"/>
              </a:rPr>
              <a:t>Galaxy Workflows</a:t>
            </a:r>
          </a:p>
        </p:txBody>
      </p:sp>
      <p:sp>
        <p:nvSpPr>
          <p:cNvPr id="57" name="Cons_3"/>
          <p:cNvSpPr/>
          <p:nvPr/>
        </p:nvSpPr>
        <p:spPr>
          <a:xfrm>
            <a:off x="24739600" y="12230363"/>
            <a:ext cx="3873500" cy="635000"/>
          </a:xfrm>
          <a:prstGeom prst="roundRect">
            <a:avLst>
              <a:gd name="adj" fmla="val 25000"/>
            </a:avLst>
          </a:prstGeom>
          <a:solidFill>
            <a:srgbClr val="7B1FA2"/>
          </a:solidFill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ource Sans Pro"/>
              </a:rPr>
              <a:t>MetaboLights</a:t>
            </a:r>
          </a:p>
        </p:txBody>
      </p:sp>
      <p:sp>
        <p:nvSpPr>
          <p:cNvPr id="70" name="ResultsLabel"/>
          <p:cNvSpPr/>
          <p:nvPr/>
        </p:nvSpPr>
        <p:spPr>
          <a:xfrm>
            <a:off x="14960600" y="21132800"/>
            <a:ext cx="13970000" cy="936000"/>
          </a:xfrm>
          <a:prstGeom prst="round2SameRect">
            <a:avLst/>
          </a:prstGeom>
          <a:solidFill>
            <a:schemeClr val="accent1"/>
          </a:solidFill>
          <a:ln w="0">
            <a:noFill/>
          </a:ln>
        </p:spPr>
        <p:txBody>
          <a:bodyPr wrap="square" lIns="137160" tIns="0" rIns="137160" bIns="0" anchor="ctr"/>
          <a:lstStyle/>
          <a:p>
            <a:r>
              <a:rPr lang="en-US" sz="4000" b="1" dirty="0">
                <a:solidFill>
                  <a:srgbClr val="FFFFFF"/>
                </a:solidFill>
                <a:latin typeface="Montserrat"/>
              </a:rPr>
              <a:t>ELIXIR BIOHACKATHON EUROPE 2025</a:t>
            </a:r>
          </a:p>
        </p:txBody>
      </p:sp>
      <p:sp>
        <p:nvSpPr>
          <p:cNvPr id="80" name="RoadmapLabel"/>
          <p:cNvSpPr/>
          <p:nvPr/>
        </p:nvSpPr>
        <p:spPr>
          <a:xfrm>
            <a:off x="29311600" y="7188200"/>
            <a:ext cx="13970000" cy="936000"/>
          </a:xfrm>
          <a:prstGeom prst="round2SameRect">
            <a:avLst/>
          </a:prstGeom>
          <a:solidFill>
            <a:schemeClr val="accent1"/>
          </a:solidFill>
          <a:ln w="0">
            <a:noFill/>
          </a:ln>
        </p:spPr>
        <p:txBody>
          <a:bodyPr wrap="square" lIns="137160" tIns="0" rIns="137160" bIns="0" anchor="ctr"/>
          <a:lstStyle/>
          <a:p>
            <a:pPr algn="l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/>
              </a:rPr>
              <a:t>mzTab-M 2.1 DRAFT</a:t>
            </a:r>
          </a:p>
        </p:txBody>
      </p:sp>
      <p:sp>
        <p:nvSpPr>
          <p:cNvPr id="90" name="AckLabel"/>
          <p:cNvSpPr/>
          <p:nvPr/>
        </p:nvSpPr>
        <p:spPr>
          <a:xfrm>
            <a:off x="29311600" y="21132800"/>
            <a:ext cx="13970000" cy="936000"/>
          </a:xfrm>
          <a:prstGeom prst="round2SameRect">
            <a:avLst/>
          </a:prstGeom>
          <a:solidFill>
            <a:schemeClr val="accent1"/>
          </a:solidFill>
          <a:ln w="0">
            <a:noFill/>
          </a:ln>
        </p:spPr>
        <p:txBody>
          <a:bodyPr wrap="square" lIns="137160" tIns="0" rIns="137160" bIns="0" anchor="ctr"/>
          <a:lstStyle/>
          <a:p>
            <a:r>
              <a:rPr lang="en-US" sz="4000" b="1" dirty="0">
                <a:solidFill>
                  <a:srgbClr val="FFFFFF"/>
                </a:solidFill>
                <a:latin typeface="Montserrat"/>
              </a:rPr>
              <a:t>REFERENCES &amp; ACKNOWLEDGMENTS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B1EF432-67A3-401D-075F-A7243EFCD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4082" y="307175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Prod_4">
            <a:extLst>
              <a:ext uri="{FF2B5EF4-FFF2-40B4-BE49-F238E27FC236}">
                <a16:creationId xmlns:a16="http://schemas.microsoft.com/office/drawing/2014/main" id="{3815266F-B8C3-E64A-887E-4EFE3D74CCCB}"/>
              </a:ext>
            </a:extLst>
          </p:cNvPr>
          <p:cNvSpPr/>
          <p:nvPr/>
        </p:nvSpPr>
        <p:spPr>
          <a:xfrm>
            <a:off x="15278100" y="9816239"/>
            <a:ext cx="3873500" cy="635000"/>
          </a:xfrm>
          <a:prstGeom prst="roundRect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Source Sans Pro"/>
                <a:ea typeface="Source Sans Pro"/>
              </a:rPr>
              <a:t>LDA2</a:t>
            </a:r>
          </a:p>
        </p:txBody>
      </p:sp>
      <p:sp>
        <p:nvSpPr>
          <p:cNvPr id="3" name="Prod_5">
            <a:extLst>
              <a:ext uri="{FF2B5EF4-FFF2-40B4-BE49-F238E27FC236}">
                <a16:creationId xmlns:a16="http://schemas.microsoft.com/office/drawing/2014/main" id="{9B361A20-9EF1-A64C-90EF-A60E65293894}"/>
              </a:ext>
            </a:extLst>
          </p:cNvPr>
          <p:cNvSpPr/>
          <p:nvPr/>
        </p:nvSpPr>
        <p:spPr>
          <a:xfrm>
            <a:off x="15278100" y="13800459"/>
            <a:ext cx="3873500" cy="635000"/>
          </a:xfrm>
          <a:prstGeom prst="roundRect">
            <a:avLst/>
          </a:prstGeom>
          <a:solidFill>
            <a:schemeClr val="accent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2600" b="1" dirty="0" err="1">
                <a:solidFill>
                  <a:srgbClr val="FFFFFF"/>
                </a:solidFill>
                <a:latin typeface="Source Sans Pro"/>
                <a:ea typeface="Source Sans Pro"/>
              </a:rPr>
              <a:t>MetaboScape</a:t>
            </a:r>
            <a:endParaRPr lang="en-US" sz="2600" b="1" dirty="0">
              <a:solidFill>
                <a:srgbClr val="FFFFFF"/>
              </a:solidFill>
              <a:latin typeface="Source Sans Pro"/>
              <a:ea typeface="Source Sans Pro"/>
            </a:endParaRPr>
          </a:p>
        </p:txBody>
      </p:sp>
      <p:sp>
        <p:nvSpPr>
          <p:cNvPr id="4" name="Cons_4">
            <a:extLst>
              <a:ext uri="{FF2B5EF4-FFF2-40B4-BE49-F238E27FC236}">
                <a16:creationId xmlns:a16="http://schemas.microsoft.com/office/drawing/2014/main" id="{77F69AB7-BF1B-6540-9974-353EEFEEEF77}"/>
              </a:ext>
            </a:extLst>
          </p:cNvPr>
          <p:cNvSpPr/>
          <p:nvPr/>
        </p:nvSpPr>
        <p:spPr>
          <a:xfrm>
            <a:off x="24739600" y="11425655"/>
            <a:ext cx="3873500" cy="635000"/>
          </a:xfrm>
          <a:prstGeom prst="roundRect">
            <a:avLst/>
          </a:prstGeom>
          <a:solidFill>
            <a:srgbClr val="7B1FA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2600" b="1" dirty="0" err="1">
                <a:solidFill>
                  <a:srgbClr val="FFFFFF"/>
                </a:solidFill>
                <a:latin typeface="Source Sans Pro"/>
                <a:ea typeface="Source Sans Pro"/>
              </a:rPr>
              <a:t>MetabolomicsHub</a:t>
            </a:r>
            <a:endParaRPr lang="en-US" sz="2600" b="1" dirty="0">
              <a:solidFill>
                <a:srgbClr val="FFFFFF"/>
              </a:solidFill>
              <a:latin typeface="Source Sans Pro"/>
              <a:ea typeface="Source Sans Pro"/>
            </a:endParaRPr>
          </a:p>
        </p:txBody>
      </p:sp>
      <p:sp>
        <p:nvSpPr>
          <p:cNvPr id="5" name="Cons_5">
            <a:extLst>
              <a:ext uri="{FF2B5EF4-FFF2-40B4-BE49-F238E27FC236}">
                <a16:creationId xmlns:a16="http://schemas.microsoft.com/office/drawing/2014/main" id="{11D7F2CA-CBA8-6E40-8816-4C2E2864C829}"/>
              </a:ext>
            </a:extLst>
          </p:cNvPr>
          <p:cNvSpPr/>
          <p:nvPr/>
        </p:nvSpPr>
        <p:spPr>
          <a:xfrm>
            <a:off x="24739600" y="13839779"/>
            <a:ext cx="3873500" cy="635000"/>
          </a:xfrm>
          <a:prstGeom prst="roundRect">
            <a:avLst/>
          </a:prstGeom>
          <a:solidFill>
            <a:srgbClr val="7B1FA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Source Sans Pro"/>
                <a:ea typeface="Source Sans Pro"/>
              </a:rPr>
              <a:t>LipidCompass</a:t>
            </a:r>
          </a:p>
        </p:txBody>
      </p:sp>
      <p:sp>
        <p:nvSpPr>
          <p:cNvPr id="7" name="TimelineLine">
            <a:extLst>
              <a:ext uri="{FF2B5EF4-FFF2-40B4-BE49-F238E27FC236}">
                <a16:creationId xmlns:a16="http://schemas.microsoft.com/office/drawing/2014/main" id="{194E1FE6-4659-A943-B53A-772920A51F35}"/>
              </a:ext>
            </a:extLst>
          </p:cNvPr>
          <p:cNvSpPr/>
          <p:nvPr/>
        </p:nvSpPr>
        <p:spPr>
          <a:xfrm>
            <a:off x="1625600" y="19171558"/>
            <a:ext cx="11938000" cy="76200"/>
          </a:xfrm>
          <a:prstGeom prst="rect">
            <a:avLst/>
          </a:prstGeom>
          <a:solidFill>
            <a:srgbClr val="0F4C8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LNode_0">
            <a:extLst>
              <a:ext uri="{FF2B5EF4-FFF2-40B4-BE49-F238E27FC236}">
                <a16:creationId xmlns:a16="http://schemas.microsoft.com/office/drawing/2014/main" id="{6E80524A-DE47-E848-AEBF-D88F9B73A8EB}"/>
              </a:ext>
            </a:extLst>
          </p:cNvPr>
          <p:cNvSpPr/>
          <p:nvPr/>
        </p:nvSpPr>
        <p:spPr>
          <a:xfrm>
            <a:off x="1201060" y="18834100"/>
            <a:ext cx="711200" cy="711200"/>
          </a:xfrm>
          <a:prstGeom prst="ellipse">
            <a:avLst/>
          </a:prstGeom>
          <a:solidFill>
            <a:schemeClr val="accent1"/>
          </a:solidFill>
          <a:ln w="38100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LYear_0">
            <a:extLst>
              <a:ext uri="{FF2B5EF4-FFF2-40B4-BE49-F238E27FC236}">
                <a16:creationId xmlns:a16="http://schemas.microsoft.com/office/drawing/2014/main" id="{24896289-4773-A34F-BA25-BB256ABFC734}"/>
              </a:ext>
            </a:extLst>
          </p:cNvPr>
          <p:cNvSpPr txBox="1"/>
          <p:nvPr/>
        </p:nvSpPr>
        <p:spPr>
          <a:xfrm>
            <a:off x="990600" y="18017669"/>
            <a:ext cx="3048000" cy="698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400" b="1" dirty="0">
                <a:solidFill>
                  <a:schemeClr val="accent1"/>
                </a:solidFill>
                <a:latin typeface="Source Sans Pro"/>
                <a:ea typeface="Source Sans Pro"/>
              </a:rPr>
              <a:t>2014</a:t>
            </a:r>
          </a:p>
        </p:txBody>
      </p:sp>
      <p:sp>
        <p:nvSpPr>
          <p:cNvPr id="13" name="TLName_0">
            <a:extLst>
              <a:ext uri="{FF2B5EF4-FFF2-40B4-BE49-F238E27FC236}">
                <a16:creationId xmlns:a16="http://schemas.microsoft.com/office/drawing/2014/main" id="{0A6513AE-1CC9-7948-9AB6-A492E093D024}"/>
              </a:ext>
            </a:extLst>
          </p:cNvPr>
          <p:cNvSpPr txBox="1"/>
          <p:nvPr/>
        </p:nvSpPr>
        <p:spPr>
          <a:xfrm>
            <a:off x="1556660" y="19659600"/>
            <a:ext cx="3302000" cy="6985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800" b="1" dirty="0" err="1">
                <a:solidFill>
                  <a:srgbClr val="0F4C81"/>
                </a:solidFill>
                <a:latin typeface="Source Sans Pro"/>
                <a:ea typeface="Source Sans Pro"/>
              </a:rPr>
              <a:t>mzTab</a:t>
            </a:r>
            <a:r>
              <a:rPr lang="en-US" sz="2800" b="1" dirty="0">
                <a:solidFill>
                  <a:srgbClr val="0F4C81"/>
                </a:solidFill>
                <a:latin typeface="Source Sans Pro"/>
                <a:ea typeface="Source Sans Pro"/>
              </a:rPr>
              <a:t> 1.0</a:t>
            </a:r>
          </a:p>
        </p:txBody>
      </p:sp>
      <p:sp>
        <p:nvSpPr>
          <p:cNvPr id="14" name="TLNode_1">
            <a:extLst>
              <a:ext uri="{FF2B5EF4-FFF2-40B4-BE49-F238E27FC236}">
                <a16:creationId xmlns:a16="http://schemas.microsoft.com/office/drawing/2014/main" id="{0655759D-3EA0-D348-9DC1-35ECE851A3FA}"/>
              </a:ext>
            </a:extLst>
          </p:cNvPr>
          <p:cNvSpPr/>
          <p:nvPr/>
        </p:nvSpPr>
        <p:spPr>
          <a:xfrm>
            <a:off x="4376060" y="18834100"/>
            <a:ext cx="711200" cy="711200"/>
          </a:xfrm>
          <a:prstGeom prst="ellipse">
            <a:avLst/>
          </a:prstGeom>
          <a:solidFill>
            <a:schemeClr val="accent1"/>
          </a:solidFill>
          <a:ln w="38100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LYear_1">
            <a:extLst>
              <a:ext uri="{FF2B5EF4-FFF2-40B4-BE49-F238E27FC236}">
                <a16:creationId xmlns:a16="http://schemas.microsoft.com/office/drawing/2014/main" id="{DF74F740-1C3D-9848-9CC9-DA51146726DB}"/>
              </a:ext>
            </a:extLst>
          </p:cNvPr>
          <p:cNvSpPr txBox="1"/>
          <p:nvPr/>
        </p:nvSpPr>
        <p:spPr>
          <a:xfrm>
            <a:off x="4165600" y="18017669"/>
            <a:ext cx="3048000" cy="698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400" b="1" dirty="0">
                <a:solidFill>
                  <a:schemeClr val="accent1"/>
                </a:solidFill>
                <a:latin typeface="Source Sans Pro"/>
                <a:ea typeface="Source Sans Pro"/>
              </a:rPr>
              <a:t>2019</a:t>
            </a:r>
          </a:p>
        </p:txBody>
      </p:sp>
      <p:sp>
        <p:nvSpPr>
          <p:cNvPr id="16" name="TLName_1">
            <a:extLst>
              <a:ext uri="{FF2B5EF4-FFF2-40B4-BE49-F238E27FC236}">
                <a16:creationId xmlns:a16="http://schemas.microsoft.com/office/drawing/2014/main" id="{706FD6D5-CE14-A94A-912B-A7943B7D970C}"/>
              </a:ext>
            </a:extLst>
          </p:cNvPr>
          <p:cNvSpPr txBox="1"/>
          <p:nvPr/>
        </p:nvSpPr>
        <p:spPr>
          <a:xfrm>
            <a:off x="4731660" y="19659600"/>
            <a:ext cx="3302000" cy="6985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800" b="1" dirty="0" err="1">
                <a:solidFill>
                  <a:srgbClr val="0F4C81"/>
                </a:solidFill>
                <a:latin typeface="Source Sans Pro"/>
                <a:ea typeface="Source Sans Pro"/>
              </a:rPr>
              <a:t>mzTab</a:t>
            </a:r>
            <a:r>
              <a:rPr lang="en-US" sz="2800" b="1" dirty="0">
                <a:solidFill>
                  <a:srgbClr val="0F4C81"/>
                </a:solidFill>
                <a:latin typeface="Source Sans Pro"/>
                <a:ea typeface="Source Sans Pro"/>
              </a:rPr>
              <a:t>-M 2.0</a:t>
            </a:r>
          </a:p>
        </p:txBody>
      </p:sp>
      <p:sp>
        <p:nvSpPr>
          <p:cNvPr id="17" name="TLNode_2">
            <a:extLst>
              <a:ext uri="{FF2B5EF4-FFF2-40B4-BE49-F238E27FC236}">
                <a16:creationId xmlns:a16="http://schemas.microsoft.com/office/drawing/2014/main" id="{50D681B0-26B7-C042-BF2B-2600709CE202}"/>
              </a:ext>
            </a:extLst>
          </p:cNvPr>
          <p:cNvSpPr/>
          <p:nvPr/>
        </p:nvSpPr>
        <p:spPr>
          <a:xfrm>
            <a:off x="7551060" y="18834100"/>
            <a:ext cx="711200" cy="711200"/>
          </a:xfrm>
          <a:prstGeom prst="ellipse">
            <a:avLst/>
          </a:prstGeom>
          <a:solidFill>
            <a:schemeClr val="accent1"/>
          </a:solidFill>
          <a:ln w="38100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8" name="TLYear_2">
            <a:extLst>
              <a:ext uri="{FF2B5EF4-FFF2-40B4-BE49-F238E27FC236}">
                <a16:creationId xmlns:a16="http://schemas.microsoft.com/office/drawing/2014/main" id="{DB3EB00D-3CDD-B34D-8BD7-33BD302047D2}"/>
              </a:ext>
            </a:extLst>
          </p:cNvPr>
          <p:cNvSpPr txBox="1"/>
          <p:nvPr/>
        </p:nvSpPr>
        <p:spPr>
          <a:xfrm>
            <a:off x="7340600" y="18017669"/>
            <a:ext cx="3048000" cy="698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400" b="1" dirty="0">
                <a:solidFill>
                  <a:schemeClr val="accent1"/>
                </a:solidFill>
                <a:latin typeface="Source Sans Pro"/>
                <a:ea typeface="Source Sans Pro"/>
              </a:rPr>
              <a:t>2025</a:t>
            </a:r>
          </a:p>
        </p:txBody>
      </p:sp>
      <p:sp>
        <p:nvSpPr>
          <p:cNvPr id="19" name="TLName_2">
            <a:extLst>
              <a:ext uri="{FF2B5EF4-FFF2-40B4-BE49-F238E27FC236}">
                <a16:creationId xmlns:a16="http://schemas.microsoft.com/office/drawing/2014/main" id="{2713158D-548D-284E-9497-B4059295A7EB}"/>
              </a:ext>
            </a:extLst>
          </p:cNvPr>
          <p:cNvSpPr txBox="1"/>
          <p:nvPr/>
        </p:nvSpPr>
        <p:spPr>
          <a:xfrm>
            <a:off x="7906660" y="19664854"/>
            <a:ext cx="3302000" cy="6985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800" b="1" dirty="0" err="1">
                <a:solidFill>
                  <a:srgbClr val="0F4C81"/>
                </a:solidFill>
                <a:latin typeface="Source Sans Pro"/>
                <a:ea typeface="Source Sans Pro"/>
              </a:rPr>
              <a:t>BioHackathon</a:t>
            </a:r>
            <a:endParaRPr lang="en-US" sz="2800" b="1" dirty="0">
              <a:solidFill>
                <a:srgbClr val="0F4C81"/>
              </a:solidFill>
              <a:latin typeface="Source Sans Pro"/>
              <a:ea typeface="Source Sans Pro"/>
            </a:endParaRPr>
          </a:p>
        </p:txBody>
      </p:sp>
      <p:sp>
        <p:nvSpPr>
          <p:cNvPr id="22" name="TLNode_3">
            <a:extLst>
              <a:ext uri="{FF2B5EF4-FFF2-40B4-BE49-F238E27FC236}">
                <a16:creationId xmlns:a16="http://schemas.microsoft.com/office/drawing/2014/main" id="{410F9332-36FE-084C-A600-D941A740163B}"/>
              </a:ext>
            </a:extLst>
          </p:cNvPr>
          <p:cNvSpPr/>
          <p:nvPr/>
        </p:nvSpPr>
        <p:spPr>
          <a:xfrm>
            <a:off x="10726060" y="18834100"/>
            <a:ext cx="711200" cy="711200"/>
          </a:xfrm>
          <a:prstGeom prst="ellipse">
            <a:avLst/>
          </a:prstGeom>
          <a:solidFill>
            <a:schemeClr val="accent1"/>
          </a:solidFill>
          <a:ln w="38100" cap="flat" cmpd="sng" algn="ctr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LYear_3">
            <a:extLst>
              <a:ext uri="{FF2B5EF4-FFF2-40B4-BE49-F238E27FC236}">
                <a16:creationId xmlns:a16="http://schemas.microsoft.com/office/drawing/2014/main" id="{893DE6D2-D683-A343-ADA9-2C6C25E151AE}"/>
              </a:ext>
            </a:extLst>
          </p:cNvPr>
          <p:cNvSpPr txBox="1"/>
          <p:nvPr/>
        </p:nvSpPr>
        <p:spPr>
          <a:xfrm>
            <a:off x="10515600" y="18017669"/>
            <a:ext cx="3048000" cy="698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400" b="1" dirty="0">
                <a:solidFill>
                  <a:schemeClr val="accent5"/>
                </a:solidFill>
                <a:latin typeface="Source Sans Pro"/>
                <a:ea typeface="Source Sans Pro"/>
              </a:rPr>
              <a:t>2026+</a:t>
            </a:r>
          </a:p>
        </p:txBody>
      </p:sp>
      <p:sp>
        <p:nvSpPr>
          <p:cNvPr id="24" name="TLName_3">
            <a:extLst>
              <a:ext uri="{FF2B5EF4-FFF2-40B4-BE49-F238E27FC236}">
                <a16:creationId xmlns:a16="http://schemas.microsoft.com/office/drawing/2014/main" id="{4FF819FF-F9C4-CF4A-B2E4-3C7EA20363F2}"/>
              </a:ext>
            </a:extLst>
          </p:cNvPr>
          <p:cNvSpPr txBox="1"/>
          <p:nvPr/>
        </p:nvSpPr>
        <p:spPr>
          <a:xfrm>
            <a:off x="11081659" y="19659600"/>
            <a:ext cx="3302000" cy="6985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800" b="1" dirty="0" err="1">
                <a:solidFill>
                  <a:schemeClr val="accent5"/>
                </a:solidFill>
                <a:latin typeface="Source Sans Pro"/>
                <a:ea typeface="Source Sans Pro"/>
              </a:rPr>
              <a:t>mzTab</a:t>
            </a:r>
            <a:r>
              <a:rPr lang="en-US" sz="2800" b="1" dirty="0">
                <a:solidFill>
                  <a:schemeClr val="accent5"/>
                </a:solidFill>
                <a:latin typeface="Source Sans Pro"/>
                <a:ea typeface="Source Sans Pro"/>
              </a:rPr>
              <a:t>-M 2.1</a:t>
            </a:r>
          </a:p>
        </p:txBody>
      </p:sp>
      <p:grpSp>
        <p:nvGrpSpPr>
          <p:cNvPr id="33" name="Google Shape;135;p22">
            <a:extLst>
              <a:ext uri="{FF2B5EF4-FFF2-40B4-BE49-F238E27FC236}">
                <a16:creationId xmlns:a16="http://schemas.microsoft.com/office/drawing/2014/main" id="{86C6A8A9-7F5E-C04C-DF7E-745D59E1C114}"/>
              </a:ext>
            </a:extLst>
          </p:cNvPr>
          <p:cNvGrpSpPr/>
          <p:nvPr/>
        </p:nvGrpSpPr>
        <p:grpSpPr>
          <a:xfrm>
            <a:off x="863600" y="27549781"/>
            <a:ext cx="3034548" cy="3878997"/>
            <a:chOff x="900000" y="1188721"/>
            <a:chExt cx="1721280" cy="2933700"/>
          </a:xfrm>
        </p:grpSpPr>
        <p:sp>
          <p:nvSpPr>
            <p:cNvPr id="34" name="Google Shape;136;p22">
              <a:extLst>
                <a:ext uri="{FF2B5EF4-FFF2-40B4-BE49-F238E27FC236}">
                  <a16:creationId xmlns:a16="http://schemas.microsoft.com/office/drawing/2014/main" id="{C47C85DB-576E-F58F-D53C-BE341EE0BA31}"/>
                </a:ext>
              </a:extLst>
            </p:cNvPr>
            <p:cNvSpPr/>
            <p:nvPr/>
          </p:nvSpPr>
          <p:spPr>
            <a:xfrm>
              <a:off x="900000" y="1188721"/>
              <a:ext cx="1721280" cy="515988"/>
            </a:xfrm>
            <a:prstGeom prst="rect">
              <a:avLst/>
            </a:prstGeom>
            <a:solidFill>
              <a:srgbClr val="7F7F7F"/>
            </a:solidFill>
            <a:ln w="12700" cap="flat" cmpd="sng">
              <a:solidFill>
                <a:srgbClr val="26262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 err="1">
                  <a:solidFill>
                    <a:schemeClr val="lt1"/>
                  </a:solidFill>
                  <a:latin typeface="+mn-lt"/>
                  <a:ea typeface="Roboto"/>
                  <a:cs typeface="Roboto"/>
                  <a:sym typeface="Roboto"/>
                </a:rPr>
                <a:t>mzTab</a:t>
              </a:r>
              <a:r>
                <a:rPr lang="en-US" sz="2000" b="1" dirty="0">
                  <a:solidFill>
                    <a:schemeClr val="lt1"/>
                  </a:solidFill>
                  <a:latin typeface="+mn-lt"/>
                  <a:ea typeface="Roboto"/>
                  <a:cs typeface="Roboto"/>
                  <a:sym typeface="Roboto"/>
                </a:rPr>
                <a:t>-M </a:t>
              </a:r>
              <a:r>
                <a:rPr lang="en-US" sz="2000" b="1" dirty="0" err="1">
                  <a:solidFill>
                    <a:schemeClr val="lt1"/>
                  </a:solidFill>
                  <a:latin typeface="+mn-lt"/>
                  <a:ea typeface="Roboto"/>
                  <a:cs typeface="Roboto"/>
                  <a:sym typeface="Roboto"/>
                </a:rPr>
                <a:t>file</a:t>
              </a:r>
              <a:endParaRPr sz="2000" b="1" dirty="0">
                <a:latin typeface="+mn-lt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" name="Google Shape;137;p22">
              <a:extLst>
                <a:ext uri="{FF2B5EF4-FFF2-40B4-BE49-F238E27FC236}">
                  <a16:creationId xmlns:a16="http://schemas.microsoft.com/office/drawing/2014/main" id="{93C6243C-A5B7-7594-3B9D-97CBC9D7374E}"/>
                </a:ext>
              </a:extLst>
            </p:cNvPr>
            <p:cNvSpPr/>
            <p:nvPr/>
          </p:nvSpPr>
          <p:spPr>
            <a:xfrm>
              <a:off x="900000" y="1704709"/>
              <a:ext cx="1721280" cy="657491"/>
            </a:xfrm>
            <a:prstGeom prst="rect">
              <a:avLst/>
            </a:prstGeom>
            <a:solidFill>
              <a:srgbClr val="9FB6D2"/>
            </a:solidFill>
            <a:ln w="12700" cap="flat" cmpd="sng">
              <a:solidFill>
                <a:srgbClr val="26262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 err="1">
                  <a:solidFill>
                    <a:schemeClr val="accent1"/>
                  </a:solidFill>
                  <a:latin typeface="+mn-lt"/>
                  <a:ea typeface="Roboto"/>
                  <a:cs typeface="Roboto"/>
                  <a:sym typeface="Roboto"/>
                </a:rPr>
                <a:t>Metadata</a:t>
              </a:r>
              <a:br>
                <a:rPr lang="en-US" sz="2000" dirty="0">
                  <a:solidFill>
                    <a:schemeClr val="accent1"/>
                  </a:solidFill>
                  <a:latin typeface="+mn-lt"/>
                  <a:ea typeface="Roboto"/>
                  <a:cs typeface="Roboto"/>
                  <a:sym typeface="Roboto"/>
                </a:rPr>
              </a:br>
              <a:r>
                <a:rPr lang="en-US" sz="2000" dirty="0" err="1">
                  <a:solidFill>
                    <a:schemeClr val="accent1"/>
                  </a:solidFill>
                  <a:latin typeface="+mn-lt"/>
                  <a:ea typeface="Roboto"/>
                  <a:cs typeface="Roboto"/>
                  <a:sym typeface="Roboto"/>
                </a:rPr>
                <a:t>Declares</a:t>
              </a:r>
              <a:r>
                <a:rPr lang="en-US" sz="2000" dirty="0">
                  <a:solidFill>
                    <a:schemeClr val="accent1"/>
                  </a:solidFill>
                  <a:latin typeface="+mn-lt"/>
                  <a:ea typeface="Roboto"/>
                  <a:cs typeface="Roboto"/>
                  <a:sym typeface="Roboto"/>
                </a:rPr>
                <a:t> CVs</a:t>
              </a:r>
              <a:endParaRPr sz="2000" dirty="0">
                <a:solidFill>
                  <a:schemeClr val="accent1"/>
                </a:solidFill>
                <a:latin typeface="+mn-lt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" name="Google Shape;138;p22">
              <a:extLst>
                <a:ext uri="{FF2B5EF4-FFF2-40B4-BE49-F238E27FC236}">
                  <a16:creationId xmlns:a16="http://schemas.microsoft.com/office/drawing/2014/main" id="{7611D309-1593-113A-7387-F0288CCE9419}"/>
                </a:ext>
              </a:extLst>
            </p:cNvPr>
            <p:cNvSpPr/>
            <p:nvPr/>
          </p:nvSpPr>
          <p:spPr>
            <a:xfrm>
              <a:off x="900000" y="2291450"/>
              <a:ext cx="1721280" cy="657491"/>
            </a:xfrm>
            <a:prstGeom prst="rect">
              <a:avLst/>
            </a:prstGeom>
            <a:solidFill>
              <a:srgbClr val="A1D29E"/>
            </a:solidFill>
            <a:ln w="12700" cap="flat" cmpd="sng">
              <a:solidFill>
                <a:srgbClr val="26262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rgbClr val="2E7D32"/>
                  </a:solidFill>
                  <a:latin typeface="+mn-lt"/>
                  <a:ea typeface="Roboto"/>
                  <a:cs typeface="Roboto"/>
                  <a:sym typeface="Roboto"/>
                </a:rPr>
                <a:t>Summary</a:t>
              </a:r>
              <a:endParaRPr sz="2000" dirty="0">
                <a:solidFill>
                  <a:srgbClr val="2E7D32"/>
                </a:solidFill>
                <a:latin typeface="+mn-lt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" name="Google Shape;139;p22">
              <a:extLst>
                <a:ext uri="{FF2B5EF4-FFF2-40B4-BE49-F238E27FC236}">
                  <a16:creationId xmlns:a16="http://schemas.microsoft.com/office/drawing/2014/main" id="{E574993A-6C7E-CDF2-9387-74D038EBDDD6}"/>
                </a:ext>
              </a:extLst>
            </p:cNvPr>
            <p:cNvSpPr/>
            <p:nvPr/>
          </p:nvSpPr>
          <p:spPr>
            <a:xfrm>
              <a:off x="900000" y="2878189"/>
              <a:ext cx="1721280" cy="657491"/>
            </a:xfrm>
            <a:prstGeom prst="rect">
              <a:avLst/>
            </a:prstGeom>
            <a:solidFill>
              <a:srgbClr val="FFDA90"/>
            </a:solidFill>
            <a:ln w="12700" cap="flat" cmpd="sng">
              <a:solidFill>
                <a:srgbClr val="26262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rgbClr val="C09000"/>
                  </a:solidFill>
                  <a:latin typeface="+mn-lt"/>
                  <a:ea typeface="Roboto"/>
                  <a:cs typeface="Roboto"/>
                  <a:sym typeface="Roboto"/>
                </a:rPr>
                <a:t>Features</a:t>
              </a:r>
              <a:endParaRPr sz="2000" dirty="0">
                <a:solidFill>
                  <a:srgbClr val="C09000"/>
                </a:solidFill>
                <a:latin typeface="+mn-lt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" name="Google Shape;140;p22">
              <a:extLst>
                <a:ext uri="{FF2B5EF4-FFF2-40B4-BE49-F238E27FC236}">
                  <a16:creationId xmlns:a16="http://schemas.microsoft.com/office/drawing/2014/main" id="{DBE7FC6E-DFEE-587C-6ABD-437FB1E36208}"/>
                </a:ext>
              </a:extLst>
            </p:cNvPr>
            <p:cNvSpPr/>
            <p:nvPr/>
          </p:nvSpPr>
          <p:spPr>
            <a:xfrm>
              <a:off x="900000" y="3464930"/>
              <a:ext cx="1721280" cy="657491"/>
            </a:xfrm>
            <a:prstGeom prst="rect">
              <a:avLst/>
            </a:prstGeom>
            <a:solidFill>
              <a:srgbClr val="FFB79C"/>
            </a:solidFill>
            <a:ln w="12700" cap="flat" cmpd="sng">
              <a:solidFill>
                <a:srgbClr val="26262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 err="1">
                  <a:solidFill>
                    <a:schemeClr val="accent6"/>
                  </a:solidFill>
                  <a:latin typeface="+mn-lt"/>
                  <a:ea typeface="Roboto"/>
                  <a:cs typeface="Roboto"/>
                  <a:sym typeface="Roboto"/>
                </a:rPr>
                <a:t>Evidence</a:t>
              </a:r>
              <a:endParaRPr sz="2000" dirty="0">
                <a:solidFill>
                  <a:schemeClr val="accent6"/>
                </a:solidFill>
                <a:latin typeface="+mn-lt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" name="Google Shape;141;p22">
            <a:extLst>
              <a:ext uri="{FF2B5EF4-FFF2-40B4-BE49-F238E27FC236}">
                <a16:creationId xmlns:a16="http://schemas.microsoft.com/office/drawing/2014/main" id="{3D63821A-DAC9-2635-2678-A1F72D268427}"/>
              </a:ext>
            </a:extLst>
          </p:cNvPr>
          <p:cNvGrpSpPr/>
          <p:nvPr/>
        </p:nvGrpSpPr>
        <p:grpSpPr>
          <a:xfrm>
            <a:off x="4787686" y="27549781"/>
            <a:ext cx="2423780" cy="3873176"/>
            <a:chOff x="3961563" y="2248742"/>
            <a:chExt cx="2423780" cy="5164235"/>
          </a:xfrm>
        </p:grpSpPr>
        <p:sp>
          <p:nvSpPr>
            <p:cNvPr id="45" name="Google Shape;142;p22">
              <a:extLst>
                <a:ext uri="{FF2B5EF4-FFF2-40B4-BE49-F238E27FC236}">
                  <a16:creationId xmlns:a16="http://schemas.microsoft.com/office/drawing/2014/main" id="{B728470A-E561-1D51-A899-0CC0E923F7D5}"/>
                </a:ext>
              </a:extLst>
            </p:cNvPr>
            <p:cNvSpPr/>
            <p:nvPr/>
          </p:nvSpPr>
          <p:spPr>
            <a:xfrm>
              <a:off x="3961563" y="2248742"/>
              <a:ext cx="2423780" cy="909667"/>
            </a:xfrm>
            <a:prstGeom prst="rect">
              <a:avLst/>
            </a:prstGeom>
            <a:solidFill>
              <a:srgbClr val="BFA500"/>
            </a:solidFill>
            <a:ln w="12700" cap="flat" cmpd="sng">
              <a:solidFill>
                <a:srgbClr val="BFA5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chemeClr val="lt1"/>
                  </a:solidFill>
                  <a:latin typeface="+mn-lt"/>
                  <a:ea typeface="Roboto"/>
                  <a:cs typeface="Roboto"/>
                  <a:sym typeface="Roboto"/>
                </a:rPr>
                <a:t>Custom CV </a:t>
              </a:r>
              <a:r>
                <a:rPr lang="en-US" sz="2000" b="1" dirty="0" err="1">
                  <a:solidFill>
                    <a:schemeClr val="lt1"/>
                  </a:solidFill>
                  <a:latin typeface="+mn-lt"/>
                  <a:ea typeface="Roboto"/>
                  <a:cs typeface="Roboto"/>
                  <a:sym typeface="Roboto"/>
                </a:rPr>
                <a:t>rules</a:t>
              </a:r>
              <a:r>
                <a:rPr lang="en-US" sz="2000" b="1" dirty="0">
                  <a:solidFill>
                    <a:schemeClr val="lt1"/>
                  </a:solidFill>
                  <a:latin typeface="+mn-lt"/>
                  <a:ea typeface="Roboto"/>
                  <a:cs typeface="Roboto"/>
                  <a:sym typeface="Roboto"/>
                </a:rPr>
                <a:t> </a:t>
              </a:r>
              <a:r>
                <a:rPr lang="en-US" sz="2000" b="1" dirty="0" err="1">
                  <a:solidFill>
                    <a:schemeClr val="lt1"/>
                  </a:solidFill>
                  <a:latin typeface="+mn-lt"/>
                  <a:ea typeface="Roboto"/>
                  <a:cs typeface="Roboto"/>
                  <a:sym typeface="Roboto"/>
                </a:rPr>
                <a:t>mapping</a:t>
              </a:r>
              <a:r>
                <a:rPr lang="en-US" sz="2000" b="1" dirty="0">
                  <a:solidFill>
                    <a:schemeClr val="lt1"/>
                  </a:solidFill>
                  <a:latin typeface="+mn-lt"/>
                  <a:ea typeface="Roboto"/>
                  <a:cs typeface="Roboto"/>
                  <a:sym typeface="Roboto"/>
                </a:rPr>
                <a:t> </a:t>
              </a:r>
              <a:r>
                <a:rPr lang="en-US" sz="2000" b="1" dirty="0" err="1">
                  <a:solidFill>
                    <a:schemeClr val="lt1"/>
                  </a:solidFill>
                  <a:latin typeface="+mn-lt"/>
                  <a:ea typeface="Roboto"/>
                  <a:cs typeface="Roboto"/>
                  <a:sym typeface="Roboto"/>
                </a:rPr>
                <a:t>file</a:t>
              </a:r>
              <a:endParaRPr sz="2000" b="1" dirty="0">
                <a:latin typeface="+mn-lt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" name="Google Shape;143;p22">
              <a:extLst>
                <a:ext uri="{FF2B5EF4-FFF2-40B4-BE49-F238E27FC236}">
                  <a16:creationId xmlns:a16="http://schemas.microsoft.com/office/drawing/2014/main" id="{09EBA1E7-C5AD-4B15-C514-F6FCF1488126}"/>
                </a:ext>
              </a:extLst>
            </p:cNvPr>
            <p:cNvSpPr/>
            <p:nvPr/>
          </p:nvSpPr>
          <p:spPr>
            <a:xfrm>
              <a:off x="3961564" y="3158409"/>
              <a:ext cx="2423778" cy="4254568"/>
            </a:xfrm>
            <a:prstGeom prst="rect">
              <a:avLst/>
            </a:prstGeom>
            <a:solidFill>
              <a:srgbClr val="FEF199"/>
            </a:solidFill>
            <a:ln w="12700" cap="flat" cmpd="sng">
              <a:solidFill>
                <a:srgbClr val="BFA5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285750" marR="0" lvl="0" indent="-2667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Roboto"/>
                <a:buChar char="•"/>
              </a:pP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Defines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allowed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CVs</a:t>
              </a:r>
              <a:endParaRPr sz="2000" dirty="0">
                <a:latin typeface="+mn-lt"/>
                <a:ea typeface="Roboto"/>
                <a:cs typeface="Roboto"/>
                <a:sym typeface="Roboto"/>
              </a:endParaRPr>
            </a:p>
            <a:p>
              <a:pPr marL="285750" marR="0" lvl="0" indent="-2667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Roboto"/>
                <a:buChar char="•"/>
              </a:pP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CV Mapping Rules</a:t>
              </a:r>
              <a:endParaRPr sz="2000" dirty="0">
                <a:latin typeface="+mn-lt"/>
                <a:ea typeface="Roboto"/>
                <a:cs typeface="Roboto"/>
                <a:sym typeface="Roboto"/>
              </a:endParaRPr>
            </a:p>
            <a:p>
              <a:pPr marL="285750" marR="0" lvl="0" indent="-2667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Roboto"/>
                <a:buChar char="•"/>
              </a:pP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Paths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to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terms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in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mzTab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-M</a:t>
              </a:r>
              <a:endParaRPr sz="2000" dirty="0">
                <a:latin typeface="+mn-lt"/>
                <a:ea typeface="Roboto"/>
                <a:cs typeface="Roboto"/>
                <a:sym typeface="Roboto"/>
              </a:endParaRPr>
            </a:p>
            <a:p>
              <a:pPr marL="285750" marR="0" lvl="0" indent="-2667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Roboto"/>
                <a:buChar char="•"/>
              </a:pP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Combination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Logic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</a:t>
              </a:r>
              <a:endParaRPr sz="2000" dirty="0">
                <a:latin typeface="+mn-lt"/>
                <a:ea typeface="Roboto"/>
                <a:cs typeface="Roboto"/>
                <a:sym typeface="Roboto"/>
              </a:endParaRPr>
            </a:p>
            <a:p>
              <a:pPr marL="285750" marR="0" lvl="0" indent="-2667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Roboto"/>
                <a:buChar char="•"/>
              </a:pP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CV Terms</a:t>
              </a:r>
              <a:endParaRPr sz="2000" dirty="0">
                <a:latin typeface="+mn-lt"/>
                <a:ea typeface="Roboto"/>
                <a:cs typeface="Roboto"/>
                <a:sym typeface="Roboto"/>
              </a:endParaRPr>
            </a:p>
            <a:p>
              <a:pPr marL="285750" marR="0" lvl="0" indent="-2667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Roboto"/>
                <a:buChar char="•"/>
              </a:pP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Constraints</a:t>
              </a:r>
              <a:endParaRPr sz="2000" dirty="0">
                <a:latin typeface="+mn-lt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7" name="Google Shape;145;p22">
            <a:extLst>
              <a:ext uri="{FF2B5EF4-FFF2-40B4-BE49-F238E27FC236}">
                <a16:creationId xmlns:a16="http://schemas.microsoft.com/office/drawing/2014/main" id="{67889265-087D-B6DD-4244-A876ED425490}"/>
              </a:ext>
            </a:extLst>
          </p:cNvPr>
          <p:cNvGrpSpPr/>
          <p:nvPr/>
        </p:nvGrpSpPr>
        <p:grpSpPr>
          <a:xfrm>
            <a:off x="8101004" y="27549781"/>
            <a:ext cx="2446681" cy="4682821"/>
            <a:chOff x="7124151" y="2248742"/>
            <a:chExt cx="2446681" cy="6243759"/>
          </a:xfrm>
        </p:grpSpPr>
        <p:sp>
          <p:nvSpPr>
            <p:cNvPr id="48" name="Google Shape;146;p22">
              <a:extLst>
                <a:ext uri="{FF2B5EF4-FFF2-40B4-BE49-F238E27FC236}">
                  <a16:creationId xmlns:a16="http://schemas.microsoft.com/office/drawing/2014/main" id="{FDE384AC-22F6-342E-2CB4-BF85A921B967}"/>
                </a:ext>
              </a:extLst>
            </p:cNvPr>
            <p:cNvSpPr/>
            <p:nvPr/>
          </p:nvSpPr>
          <p:spPr>
            <a:xfrm>
              <a:off x="7124151" y="2248742"/>
              <a:ext cx="2423778" cy="898433"/>
            </a:xfrm>
            <a:prstGeom prst="rect">
              <a:avLst/>
            </a:prstGeom>
            <a:solidFill>
              <a:srgbClr val="37AFD7"/>
            </a:solidFill>
            <a:ln w="12700" cap="flat" cmpd="sng">
              <a:solidFill>
                <a:srgbClr val="44A3C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 err="1">
                  <a:solidFill>
                    <a:schemeClr val="lt1"/>
                  </a:solidFill>
                  <a:latin typeface="+mn-lt"/>
                  <a:ea typeface="Roboto"/>
                  <a:cs typeface="Roboto"/>
                  <a:sym typeface="Roboto"/>
                </a:rPr>
                <a:t>Semantic</a:t>
              </a:r>
              <a:r>
                <a:rPr lang="en-US" sz="2000" b="1" dirty="0">
                  <a:solidFill>
                    <a:schemeClr val="lt1"/>
                  </a:solidFill>
                  <a:latin typeface="+mn-lt"/>
                  <a:ea typeface="Roboto"/>
                  <a:cs typeface="Roboto"/>
                  <a:sym typeface="Roboto"/>
                </a:rPr>
                <a:t> </a:t>
              </a:r>
              <a:r>
                <a:rPr lang="en-US" sz="2000" b="1" dirty="0" err="1">
                  <a:solidFill>
                    <a:schemeClr val="lt1"/>
                  </a:solidFill>
                  <a:latin typeface="+mn-lt"/>
                  <a:ea typeface="Roboto"/>
                  <a:cs typeface="Roboto"/>
                  <a:sym typeface="Roboto"/>
                </a:rPr>
                <a:t>Validator</a:t>
              </a:r>
              <a:endParaRPr sz="2000" b="1" dirty="0">
                <a:latin typeface="+mn-lt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" name="Google Shape;147;p22">
              <a:extLst>
                <a:ext uri="{FF2B5EF4-FFF2-40B4-BE49-F238E27FC236}">
                  <a16:creationId xmlns:a16="http://schemas.microsoft.com/office/drawing/2014/main" id="{98290913-8271-4BE4-67FA-907556130DE0}"/>
                </a:ext>
              </a:extLst>
            </p:cNvPr>
            <p:cNvSpPr/>
            <p:nvPr/>
          </p:nvSpPr>
          <p:spPr>
            <a:xfrm>
              <a:off x="7124151" y="3147176"/>
              <a:ext cx="2423778" cy="4254567"/>
            </a:xfrm>
            <a:prstGeom prst="rect">
              <a:avLst/>
            </a:prstGeom>
            <a:solidFill>
              <a:srgbClr val="E4F4FA"/>
            </a:solidFill>
            <a:ln w="12700" cap="flat" cmpd="sng">
              <a:solidFill>
                <a:srgbClr val="37AFD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285750" marR="0" lvl="0" indent="-2667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Roboto"/>
                <a:buChar char="•"/>
              </a:pP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Check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rule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requirement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level</a:t>
              </a:r>
              <a:endParaRPr sz="2000" dirty="0">
                <a:latin typeface="+mn-lt"/>
                <a:ea typeface="Roboto"/>
                <a:cs typeface="Roboto"/>
                <a:sym typeface="Roboto"/>
              </a:endParaRPr>
            </a:p>
            <a:p>
              <a:pPr marL="285750" marR="0" lvl="0" indent="-2667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Roboto"/>
                <a:buChar char="•"/>
              </a:pP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Select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mzTab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-M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elements</a:t>
              </a:r>
              <a:endParaRPr sz="2000" dirty="0">
                <a:latin typeface="+mn-lt"/>
                <a:ea typeface="Roboto"/>
                <a:cs typeface="Roboto"/>
                <a:sym typeface="Roboto"/>
              </a:endParaRPr>
            </a:p>
            <a:p>
              <a:pPr marL="285750" marR="0" lvl="0" indent="-2667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Roboto"/>
                <a:buChar char="•"/>
              </a:pP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Check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term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constraints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vs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OLS &amp;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rule</a:t>
              </a:r>
              <a:endParaRPr sz="2000" dirty="0">
                <a:latin typeface="+mn-lt"/>
                <a:ea typeface="Roboto"/>
                <a:cs typeface="Roboto"/>
                <a:sym typeface="Roboto"/>
              </a:endParaRPr>
            </a:p>
            <a:p>
              <a:pPr marL="285750" marR="0" lvl="0" indent="-2667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Roboto"/>
                <a:buChar char="•"/>
              </a:pP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Return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validation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result</a:t>
              </a:r>
              <a:endParaRPr sz="2000" dirty="0">
                <a:latin typeface="+mn-lt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" name="Google Shape;148;p22">
              <a:extLst>
                <a:ext uri="{FF2B5EF4-FFF2-40B4-BE49-F238E27FC236}">
                  <a16:creationId xmlns:a16="http://schemas.microsoft.com/office/drawing/2014/main" id="{C2EE6E09-4E48-46A4-84DE-250785D0A4AB}"/>
                </a:ext>
              </a:extLst>
            </p:cNvPr>
            <p:cNvSpPr/>
            <p:nvPr/>
          </p:nvSpPr>
          <p:spPr>
            <a:xfrm>
              <a:off x="7147055" y="7594068"/>
              <a:ext cx="2423777" cy="898433"/>
            </a:xfrm>
            <a:prstGeom prst="rect">
              <a:avLst/>
            </a:prstGeom>
            <a:solidFill>
              <a:srgbClr val="37AFD7"/>
            </a:solidFill>
            <a:ln w="12700" cap="flat" cmpd="sng">
              <a:solidFill>
                <a:srgbClr val="44A3C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chemeClr val="lt1"/>
                  </a:solidFill>
                  <a:latin typeface="+mn-lt"/>
                  <a:ea typeface="Roboto"/>
                  <a:cs typeface="Roboto"/>
                  <a:sym typeface="Roboto"/>
                </a:rPr>
                <a:t>Validation Messages</a:t>
              </a:r>
              <a:endParaRPr sz="2000" b="1" dirty="0">
                <a:latin typeface="+mn-lt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2" name="Google Shape;149;p22">
            <a:extLst>
              <a:ext uri="{FF2B5EF4-FFF2-40B4-BE49-F238E27FC236}">
                <a16:creationId xmlns:a16="http://schemas.microsoft.com/office/drawing/2014/main" id="{A952E07D-7F02-5213-2259-47C6EE5DF650}"/>
              </a:ext>
            </a:extLst>
          </p:cNvPr>
          <p:cNvGrpSpPr/>
          <p:nvPr/>
        </p:nvGrpSpPr>
        <p:grpSpPr>
          <a:xfrm>
            <a:off x="11437223" y="27549781"/>
            <a:ext cx="2423779" cy="3864751"/>
            <a:chOff x="6966745" y="1188720"/>
            <a:chExt cx="1582895" cy="3365264"/>
          </a:xfrm>
        </p:grpSpPr>
        <p:sp>
          <p:nvSpPr>
            <p:cNvPr id="63" name="Google Shape;150;p22">
              <a:extLst>
                <a:ext uri="{FF2B5EF4-FFF2-40B4-BE49-F238E27FC236}">
                  <a16:creationId xmlns:a16="http://schemas.microsoft.com/office/drawing/2014/main" id="{4F65648E-D9B8-16D0-3793-5B8E12699CD8}"/>
                </a:ext>
              </a:extLst>
            </p:cNvPr>
            <p:cNvSpPr/>
            <p:nvPr/>
          </p:nvSpPr>
          <p:spPr>
            <a:xfrm>
              <a:off x="6966745" y="1188720"/>
              <a:ext cx="1582895" cy="586740"/>
            </a:xfrm>
            <a:prstGeom prst="rect">
              <a:avLst/>
            </a:prstGeom>
            <a:solidFill>
              <a:srgbClr val="7BA438"/>
            </a:solidFill>
            <a:ln w="12700" cap="flat" cmpd="sng">
              <a:solidFill>
                <a:srgbClr val="7BA43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 err="1">
                  <a:solidFill>
                    <a:schemeClr val="lt1"/>
                  </a:solidFill>
                  <a:latin typeface="+mn-lt"/>
                  <a:ea typeface="Calibri"/>
                  <a:cs typeface="Calibri"/>
                  <a:sym typeface="Calibri"/>
                </a:rPr>
                <a:t>Ontology</a:t>
              </a:r>
              <a:r>
                <a:rPr lang="en-US" sz="2000" b="1" dirty="0">
                  <a:solidFill>
                    <a:schemeClr val="lt1"/>
                  </a:solidFill>
                  <a:latin typeface="+mn-lt"/>
                  <a:ea typeface="Calibri"/>
                  <a:cs typeface="Calibri"/>
                  <a:sym typeface="Calibri"/>
                </a:rPr>
                <a:t> Lookup Service (EBI OLS)</a:t>
              </a:r>
              <a:endParaRPr sz="2000" b="1" dirty="0">
                <a:solidFill>
                  <a:schemeClr val="lt1"/>
                </a:solidFill>
                <a:latin typeface="+mn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151;p22">
              <a:extLst>
                <a:ext uri="{FF2B5EF4-FFF2-40B4-BE49-F238E27FC236}">
                  <a16:creationId xmlns:a16="http://schemas.microsoft.com/office/drawing/2014/main" id="{5DA0350E-3D6B-52F4-73D4-E537828E6DF1}"/>
                </a:ext>
              </a:extLst>
            </p:cNvPr>
            <p:cNvSpPr/>
            <p:nvPr/>
          </p:nvSpPr>
          <p:spPr>
            <a:xfrm>
              <a:off x="6966745" y="1775459"/>
              <a:ext cx="1582894" cy="2778525"/>
            </a:xfrm>
            <a:prstGeom prst="rect">
              <a:avLst/>
            </a:prstGeom>
            <a:solidFill>
              <a:srgbClr val="D8E8BE"/>
            </a:solidFill>
            <a:ln w="12700" cap="flat" cmpd="sng">
              <a:solidFill>
                <a:srgbClr val="7BA43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285750" marR="0" lvl="0" indent="-266700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Roboto"/>
                <a:buChar char="•"/>
              </a:pPr>
              <a:endParaRPr lang="en-US" sz="200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endParaRPr>
            </a:p>
            <a:p>
              <a:pPr marL="285750" marR="0" lvl="0" indent="-266700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Roboto"/>
                <a:buChar char="•"/>
              </a:pP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Receives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term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in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mzTab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-M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element</a:t>
              </a:r>
              <a:endParaRPr sz="2000" dirty="0">
                <a:latin typeface="+mn-lt"/>
                <a:ea typeface="Roboto"/>
                <a:cs typeface="Roboto"/>
                <a:sym typeface="Roboto"/>
              </a:endParaRPr>
            </a:p>
            <a:p>
              <a:pPr marL="285750" marR="0" lvl="0" indent="-266700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Roboto"/>
                <a:buChar char="•"/>
              </a:pP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Receives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CV</a:t>
              </a:r>
              <a:endParaRPr sz="2000" dirty="0">
                <a:latin typeface="+mn-lt"/>
                <a:ea typeface="Roboto"/>
                <a:cs typeface="Roboto"/>
                <a:sym typeface="Roboto"/>
              </a:endParaRPr>
            </a:p>
            <a:p>
              <a:pPr marL="285750" marR="0" lvl="0" indent="-266700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Char char="•"/>
              </a:pP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Return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true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if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term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is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child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of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terms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in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rule</a:t>
              </a:r>
              <a:endParaRPr sz="2000" dirty="0">
                <a:latin typeface="+mn-lt"/>
                <a:ea typeface="Roboto"/>
                <a:cs typeface="Roboto"/>
                <a:sym typeface="Roboto"/>
              </a:endParaRPr>
            </a:p>
            <a:p>
              <a:pPr marL="285750" marR="0" lvl="0" indent="-266700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Char char="•"/>
              </a:pP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Return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false</a:t>
              </a:r>
              <a:r>
                <a:rPr lang="en-US" sz="2000" dirty="0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 </a:t>
              </a:r>
              <a:r>
                <a:rPr lang="en-US" sz="2000" dirty="0" err="1">
                  <a:solidFill>
                    <a:schemeClr val="dk1"/>
                  </a:solidFill>
                  <a:latin typeface="+mn-lt"/>
                  <a:ea typeface="Roboto"/>
                  <a:cs typeface="Roboto"/>
                  <a:sym typeface="Roboto"/>
                </a:rPr>
                <a:t>otherwise</a:t>
              </a:r>
              <a:endParaRPr sz="2000" dirty="0">
                <a:latin typeface="+mn-lt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6" name="Google Shape;154;p22">
            <a:extLst>
              <a:ext uri="{FF2B5EF4-FFF2-40B4-BE49-F238E27FC236}">
                <a16:creationId xmlns:a16="http://schemas.microsoft.com/office/drawing/2014/main" id="{58F5D8D8-667A-5246-3508-B9B849E5F105}"/>
              </a:ext>
            </a:extLst>
          </p:cNvPr>
          <p:cNvSpPr txBox="1"/>
          <p:nvPr/>
        </p:nvSpPr>
        <p:spPr>
          <a:xfrm>
            <a:off x="5081726" y="31599355"/>
            <a:ext cx="18357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CV: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Controlled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Vocabulary</a:t>
            </a:r>
            <a:endParaRPr sz="2000" dirty="0">
              <a:latin typeface="+mn-lt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155;p22">
            <a:extLst>
              <a:ext uri="{FF2B5EF4-FFF2-40B4-BE49-F238E27FC236}">
                <a16:creationId xmlns:a16="http://schemas.microsoft.com/office/drawing/2014/main" id="{9AA064B0-6B25-E30C-7DDF-7AEAEEB233F0}"/>
              </a:ext>
            </a:extLst>
          </p:cNvPr>
          <p:cNvSpPr/>
          <p:nvPr/>
        </p:nvSpPr>
        <p:spPr>
          <a:xfrm>
            <a:off x="4082813" y="29128144"/>
            <a:ext cx="524677" cy="393507"/>
          </a:xfrm>
          <a:prstGeom prst="plus">
            <a:avLst>
              <a:gd name="adj" fmla="val 25000"/>
            </a:avLst>
          </a:prstGeom>
          <a:solidFill>
            <a:srgbClr val="AB4133"/>
          </a:solidFill>
          <a:ln w="12700" cap="flat" cmpd="sng">
            <a:solidFill>
              <a:srgbClr val="AB41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157;p22">
            <a:extLst>
              <a:ext uri="{FF2B5EF4-FFF2-40B4-BE49-F238E27FC236}">
                <a16:creationId xmlns:a16="http://schemas.microsoft.com/office/drawing/2014/main" id="{9944665A-F5D2-01F9-FF94-D2847DA951F9}"/>
              </a:ext>
            </a:extLst>
          </p:cNvPr>
          <p:cNvSpPr/>
          <p:nvPr/>
        </p:nvSpPr>
        <p:spPr>
          <a:xfrm>
            <a:off x="10715896" y="29101379"/>
            <a:ext cx="514153" cy="4470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B4133"/>
          </a:solidFill>
          <a:ln w="12700" cap="flat" cmpd="sng">
            <a:solidFill>
              <a:srgbClr val="AB41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158;p22">
            <a:extLst>
              <a:ext uri="{FF2B5EF4-FFF2-40B4-BE49-F238E27FC236}">
                <a16:creationId xmlns:a16="http://schemas.microsoft.com/office/drawing/2014/main" id="{64F0886D-9F6E-415C-FAB7-6292CE339483}"/>
              </a:ext>
            </a:extLst>
          </p:cNvPr>
          <p:cNvSpPr/>
          <p:nvPr/>
        </p:nvSpPr>
        <p:spPr>
          <a:xfrm rot="10800000">
            <a:off x="10699868" y="29631623"/>
            <a:ext cx="514153" cy="4470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B4133"/>
          </a:solidFill>
          <a:ln w="12700" cap="flat" cmpd="sng">
            <a:solidFill>
              <a:srgbClr val="AB41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157;p22">
            <a:extLst>
              <a:ext uri="{FF2B5EF4-FFF2-40B4-BE49-F238E27FC236}">
                <a16:creationId xmlns:a16="http://schemas.microsoft.com/office/drawing/2014/main" id="{D6D83E8A-C217-D2B6-C0C2-01444ECFDA23}"/>
              </a:ext>
            </a:extLst>
          </p:cNvPr>
          <p:cNvSpPr/>
          <p:nvPr/>
        </p:nvSpPr>
        <p:spPr>
          <a:xfrm>
            <a:off x="7399158" y="29101379"/>
            <a:ext cx="514153" cy="4470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B4133"/>
          </a:solidFill>
          <a:ln w="12700" cap="flat" cmpd="sng">
            <a:solidFill>
              <a:srgbClr val="AB41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157;p22">
            <a:extLst>
              <a:ext uri="{FF2B5EF4-FFF2-40B4-BE49-F238E27FC236}">
                <a16:creationId xmlns:a16="http://schemas.microsoft.com/office/drawing/2014/main" id="{5756F284-C4BE-9753-7882-3D22335DDB73}"/>
              </a:ext>
            </a:extLst>
          </p:cNvPr>
          <p:cNvSpPr/>
          <p:nvPr/>
        </p:nvSpPr>
        <p:spPr>
          <a:xfrm rot="5400000">
            <a:off x="9004213" y="31118759"/>
            <a:ext cx="514153" cy="4470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B4133"/>
          </a:solidFill>
          <a:ln w="12700" cap="flat" cmpd="sng">
            <a:solidFill>
              <a:srgbClr val="AB41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erade Verbindung 78">
            <a:extLst>
              <a:ext uri="{FF2B5EF4-FFF2-40B4-BE49-F238E27FC236}">
                <a16:creationId xmlns:a16="http://schemas.microsoft.com/office/drawing/2014/main" id="{D7A2BD6F-3442-DFE3-B1CE-B98B0A7AC527}"/>
              </a:ext>
            </a:extLst>
          </p:cNvPr>
          <p:cNvCxnSpPr>
            <a:stCxn id="8" idx="4"/>
            <a:endCxn id="13" idx="1"/>
          </p:cNvCxnSpPr>
          <p:nvPr/>
        </p:nvCxnSpPr>
        <p:spPr>
          <a:xfrm>
            <a:off x="1556660" y="19545300"/>
            <a:ext cx="0" cy="46355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Gerade Verbindung 82">
            <a:extLst>
              <a:ext uri="{FF2B5EF4-FFF2-40B4-BE49-F238E27FC236}">
                <a16:creationId xmlns:a16="http://schemas.microsoft.com/office/drawing/2014/main" id="{1C46D818-CA71-18BF-5092-C78E2397AF50}"/>
              </a:ext>
            </a:extLst>
          </p:cNvPr>
          <p:cNvCxnSpPr>
            <a:cxnSpLocks/>
            <a:stCxn id="14" idx="4"/>
            <a:endCxn id="16" idx="1"/>
          </p:cNvCxnSpPr>
          <p:nvPr/>
        </p:nvCxnSpPr>
        <p:spPr>
          <a:xfrm>
            <a:off x="4731660" y="19545300"/>
            <a:ext cx="0" cy="46355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Gerade Verbindung 86">
            <a:extLst>
              <a:ext uri="{FF2B5EF4-FFF2-40B4-BE49-F238E27FC236}">
                <a16:creationId xmlns:a16="http://schemas.microsoft.com/office/drawing/2014/main" id="{21CF539F-91A5-F8F7-DBD3-B6AEE639C83B}"/>
              </a:ext>
            </a:extLst>
          </p:cNvPr>
          <p:cNvCxnSpPr>
            <a:cxnSpLocks/>
            <a:stCxn id="17" idx="4"/>
            <a:endCxn id="19" idx="1"/>
          </p:cNvCxnSpPr>
          <p:nvPr/>
        </p:nvCxnSpPr>
        <p:spPr>
          <a:xfrm>
            <a:off x="7906660" y="19545300"/>
            <a:ext cx="0" cy="468804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Gerade Verbindung 97">
            <a:extLst>
              <a:ext uri="{FF2B5EF4-FFF2-40B4-BE49-F238E27FC236}">
                <a16:creationId xmlns:a16="http://schemas.microsoft.com/office/drawing/2014/main" id="{ECFB77DF-BDCB-2B6C-2D09-D164F138F5C8}"/>
              </a:ext>
            </a:extLst>
          </p:cNvPr>
          <p:cNvCxnSpPr>
            <a:cxnSpLocks/>
            <a:stCxn id="22" idx="4"/>
            <a:endCxn id="24" idx="1"/>
          </p:cNvCxnSpPr>
          <p:nvPr/>
        </p:nvCxnSpPr>
        <p:spPr>
          <a:xfrm flipH="1">
            <a:off x="11081659" y="19545300"/>
            <a:ext cx="1" cy="46355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Gruppieren 110">
            <a:extLst>
              <a:ext uri="{FF2B5EF4-FFF2-40B4-BE49-F238E27FC236}">
                <a16:creationId xmlns:a16="http://schemas.microsoft.com/office/drawing/2014/main" id="{A90C6D86-0F1F-3E30-DA5A-F890814BC243}"/>
              </a:ext>
            </a:extLst>
          </p:cNvPr>
          <p:cNvGrpSpPr/>
          <p:nvPr/>
        </p:nvGrpSpPr>
        <p:grpSpPr>
          <a:xfrm>
            <a:off x="863600" y="22317236"/>
            <a:ext cx="6437285" cy="4294429"/>
            <a:chOff x="7594599" y="22471529"/>
            <a:chExt cx="6437285" cy="4294429"/>
          </a:xfrm>
        </p:grpSpPr>
        <p:sp>
          <p:nvSpPr>
            <p:cNvPr id="104" name="Abgerundetes Rechteck 103">
              <a:extLst>
                <a:ext uri="{FF2B5EF4-FFF2-40B4-BE49-F238E27FC236}">
                  <a16:creationId xmlns:a16="http://schemas.microsoft.com/office/drawing/2014/main" id="{AA750D2A-F5E1-20D6-071F-4051915BA828}"/>
                </a:ext>
              </a:extLst>
            </p:cNvPr>
            <p:cNvSpPr/>
            <p:nvPr/>
          </p:nvSpPr>
          <p:spPr>
            <a:xfrm>
              <a:off x="7594600" y="22471529"/>
              <a:ext cx="6437284" cy="799020"/>
            </a:xfrm>
            <a:prstGeom prst="roundRect">
              <a:avLst/>
            </a:prstGeom>
            <a:solidFill>
              <a:srgbClr val="A0B6D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err="1">
                  <a:solidFill>
                    <a:schemeClr val="accent1"/>
                  </a:solidFill>
                </a:rPr>
                <a:t>Metadata</a:t>
              </a:r>
              <a:endParaRPr lang="en-US" b="1" dirty="0">
                <a:solidFill>
                  <a:schemeClr val="accent1"/>
                </a:solidFill>
              </a:endParaRPr>
            </a:p>
          </p:txBody>
        </p:sp>
        <p:sp>
          <p:nvSpPr>
            <p:cNvPr id="105" name="Abgerundetes Rechteck 104">
              <a:extLst>
                <a:ext uri="{FF2B5EF4-FFF2-40B4-BE49-F238E27FC236}">
                  <a16:creationId xmlns:a16="http://schemas.microsoft.com/office/drawing/2014/main" id="{AB2AE573-C8A8-56A7-8D3C-C8CCCE326344}"/>
                </a:ext>
              </a:extLst>
            </p:cNvPr>
            <p:cNvSpPr/>
            <p:nvPr/>
          </p:nvSpPr>
          <p:spPr>
            <a:xfrm>
              <a:off x="7594600" y="23636665"/>
              <a:ext cx="6437284" cy="799020"/>
            </a:xfrm>
            <a:prstGeom prst="roundRect">
              <a:avLst/>
            </a:prstGeom>
            <a:solidFill>
              <a:srgbClr val="A1D39F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accent5"/>
                  </a:solidFill>
                </a:rPr>
                <a:t>Summary</a:t>
              </a:r>
              <a:endParaRPr lang="en-US" b="1" dirty="0">
                <a:solidFill>
                  <a:schemeClr val="accent5"/>
                </a:solidFill>
              </a:endParaRPr>
            </a:p>
          </p:txBody>
        </p:sp>
        <p:sp>
          <p:nvSpPr>
            <p:cNvPr id="106" name="Abgerundetes Rechteck 105">
              <a:extLst>
                <a:ext uri="{FF2B5EF4-FFF2-40B4-BE49-F238E27FC236}">
                  <a16:creationId xmlns:a16="http://schemas.microsoft.com/office/drawing/2014/main" id="{CCE85C24-DECD-C6D4-1039-90FC8CC5A465}"/>
                </a:ext>
              </a:extLst>
            </p:cNvPr>
            <p:cNvSpPr/>
            <p:nvPr/>
          </p:nvSpPr>
          <p:spPr>
            <a:xfrm>
              <a:off x="7594599" y="24801801"/>
              <a:ext cx="6437284" cy="799020"/>
            </a:xfrm>
            <a:prstGeom prst="roundRect">
              <a:avLst/>
            </a:prstGeom>
            <a:solidFill>
              <a:srgbClr val="FFDB90"/>
            </a:solidFill>
            <a:ln>
              <a:solidFill>
                <a:srgbClr val="C09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C09000"/>
                  </a:solidFill>
                </a:rPr>
                <a:t>Features</a:t>
              </a:r>
              <a:endParaRPr lang="en-US" b="1" dirty="0">
                <a:solidFill>
                  <a:srgbClr val="C09000"/>
                </a:solidFill>
              </a:endParaRPr>
            </a:p>
          </p:txBody>
        </p:sp>
        <p:sp>
          <p:nvSpPr>
            <p:cNvPr id="107" name="Abgerundetes Rechteck 106">
              <a:extLst>
                <a:ext uri="{FF2B5EF4-FFF2-40B4-BE49-F238E27FC236}">
                  <a16:creationId xmlns:a16="http://schemas.microsoft.com/office/drawing/2014/main" id="{68179807-BA7B-CE22-E5F7-E26F8D814953}"/>
                </a:ext>
              </a:extLst>
            </p:cNvPr>
            <p:cNvSpPr/>
            <p:nvPr/>
          </p:nvSpPr>
          <p:spPr>
            <a:xfrm>
              <a:off x="7594599" y="25966938"/>
              <a:ext cx="6437284" cy="799020"/>
            </a:xfrm>
            <a:prstGeom prst="roundRect">
              <a:avLst/>
            </a:prstGeom>
            <a:solidFill>
              <a:srgbClr val="FFB79C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err="1">
                  <a:solidFill>
                    <a:schemeClr val="accent6"/>
                  </a:solidFill>
                </a:rPr>
                <a:t>Evidence</a:t>
              </a:r>
              <a:endParaRPr lang="en-US" b="1" dirty="0">
                <a:solidFill>
                  <a:schemeClr val="accent6"/>
                </a:solidFill>
              </a:endParaRPr>
            </a:p>
          </p:txBody>
        </p:sp>
        <p:sp>
          <p:nvSpPr>
            <p:cNvPr id="108" name="Google Shape;157;p22">
              <a:extLst>
                <a:ext uri="{FF2B5EF4-FFF2-40B4-BE49-F238E27FC236}">
                  <a16:creationId xmlns:a16="http://schemas.microsoft.com/office/drawing/2014/main" id="{5CC4054D-27AF-A1E7-A2C3-EE0259B733F5}"/>
                </a:ext>
              </a:extLst>
            </p:cNvPr>
            <p:cNvSpPr/>
            <p:nvPr/>
          </p:nvSpPr>
          <p:spPr>
            <a:xfrm rot="5400000">
              <a:off x="10556164" y="23310019"/>
              <a:ext cx="514153" cy="44703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57;p22">
              <a:extLst>
                <a:ext uri="{FF2B5EF4-FFF2-40B4-BE49-F238E27FC236}">
                  <a16:creationId xmlns:a16="http://schemas.microsoft.com/office/drawing/2014/main" id="{4919A4E7-731D-8C45-350D-E9FAFA73E40C}"/>
                </a:ext>
              </a:extLst>
            </p:cNvPr>
            <p:cNvSpPr/>
            <p:nvPr/>
          </p:nvSpPr>
          <p:spPr>
            <a:xfrm rot="5400000">
              <a:off x="10556164" y="24469242"/>
              <a:ext cx="514153" cy="44703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5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57;p22">
              <a:extLst>
                <a:ext uri="{FF2B5EF4-FFF2-40B4-BE49-F238E27FC236}">
                  <a16:creationId xmlns:a16="http://schemas.microsoft.com/office/drawing/2014/main" id="{04ED0340-0C87-E8D9-71D4-4961DC61BBF9}"/>
                </a:ext>
              </a:extLst>
            </p:cNvPr>
            <p:cNvSpPr/>
            <p:nvPr/>
          </p:nvSpPr>
          <p:spPr>
            <a:xfrm rot="5400000">
              <a:off x="10556164" y="25636953"/>
              <a:ext cx="514153" cy="44703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09000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Textfeld 112">
            <a:extLst>
              <a:ext uri="{FF2B5EF4-FFF2-40B4-BE49-F238E27FC236}">
                <a16:creationId xmlns:a16="http://schemas.microsoft.com/office/drawing/2014/main" id="{E0A783D2-A72F-2CB6-1947-D7A8C5A64E66}"/>
              </a:ext>
            </a:extLst>
          </p:cNvPr>
          <p:cNvSpPr txBox="1"/>
          <p:nvPr/>
        </p:nvSpPr>
        <p:spPr>
          <a:xfrm>
            <a:off x="863600" y="26916534"/>
            <a:ext cx="12997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F4C81"/>
                </a:solidFill>
                <a:latin typeface="+mj-lt"/>
              </a:rPr>
              <a:t>Semantic Validation</a:t>
            </a:r>
            <a:endParaRPr lang="en-US" sz="3600" b="1" dirty="0">
              <a:latin typeface="+mj-lt"/>
            </a:endParaRPr>
          </a:p>
        </p:txBody>
      </p:sp>
      <p:pic>
        <p:nvPicPr>
          <p:cNvPr id="117" name="Grafik 116">
            <a:extLst>
              <a:ext uri="{FF2B5EF4-FFF2-40B4-BE49-F238E27FC236}">
                <a16:creationId xmlns:a16="http://schemas.microsoft.com/office/drawing/2014/main" id="{8ACB1862-3CD7-9BB4-E3F2-228BC1123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767486" y="13728012"/>
            <a:ext cx="2356184" cy="2356184"/>
          </a:xfrm>
          <a:prstGeom prst="rect">
            <a:avLst/>
          </a:prstGeom>
        </p:spPr>
      </p:pic>
      <p:sp>
        <p:nvSpPr>
          <p:cNvPr id="119" name="Textfeld 118">
            <a:extLst>
              <a:ext uri="{FF2B5EF4-FFF2-40B4-BE49-F238E27FC236}">
                <a16:creationId xmlns:a16="http://schemas.microsoft.com/office/drawing/2014/main" id="{88D3C91A-1EF7-094B-F03D-9A9276CC760D}"/>
              </a:ext>
            </a:extLst>
          </p:cNvPr>
          <p:cNvSpPr txBox="1"/>
          <p:nvPr/>
        </p:nvSpPr>
        <p:spPr>
          <a:xfrm>
            <a:off x="7665427" y="22208591"/>
            <a:ext cx="671823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/>
              </a:rPr>
              <a:t>Features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D3748"/>
                </a:solidFill>
                <a:latin typeface="+mn-lt"/>
              </a:rPr>
              <a:t>schema-backed, (de)serialization from/into JSON or TSV formats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/>
                </a:solidFill>
                <a:latin typeface="+mn-lt"/>
              </a:rPr>
              <a:t>CV-</a:t>
            </a:r>
            <a:r>
              <a:rPr lang="en-US" sz="3200" dirty="0" err="1">
                <a:solidFill>
                  <a:schemeClr val="bg2"/>
                </a:solidFill>
                <a:latin typeface="+mn-lt"/>
              </a:rPr>
              <a:t>controlled</a:t>
            </a:r>
            <a:r>
              <a:rPr lang="en-US" sz="320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chemeClr val="bg2"/>
                </a:solidFill>
                <a:latin typeface="+mn-lt"/>
              </a:rPr>
              <a:t>metadata</a:t>
            </a:r>
            <a:r>
              <a:rPr lang="en-US" sz="3200" dirty="0">
                <a:solidFill>
                  <a:schemeClr val="bg2"/>
                </a:solidFill>
                <a:latin typeface="+mn-lt"/>
              </a:rPr>
              <a:t>, </a:t>
            </a:r>
            <a:r>
              <a:rPr lang="en-US" sz="3200" dirty="0" err="1">
                <a:solidFill>
                  <a:schemeClr val="bg2"/>
                </a:solidFill>
                <a:latin typeface="+mn-lt"/>
              </a:rPr>
              <a:t>contacts</a:t>
            </a:r>
            <a:r>
              <a:rPr lang="en-US" sz="3200" dirty="0">
                <a:solidFill>
                  <a:schemeClr val="bg2"/>
                </a:solidFill>
                <a:latin typeface="+mn-lt"/>
              </a:rPr>
              <a:t>, </a:t>
            </a:r>
            <a:r>
              <a:rPr lang="en-US" sz="3200" dirty="0" err="1">
                <a:solidFill>
                  <a:schemeClr val="bg2"/>
                </a:solidFill>
                <a:latin typeface="+mn-lt"/>
              </a:rPr>
              <a:t>samples</a:t>
            </a:r>
            <a:r>
              <a:rPr lang="en-US" sz="3200" dirty="0">
                <a:solidFill>
                  <a:schemeClr val="bg2"/>
                </a:solidFill>
                <a:latin typeface="+mn-lt"/>
              </a:rPr>
              <a:t>, </a:t>
            </a:r>
            <a:r>
              <a:rPr lang="en-US" sz="3200" dirty="0" err="1">
                <a:solidFill>
                  <a:schemeClr val="bg2"/>
                </a:solidFill>
                <a:latin typeface="+mn-lt"/>
              </a:rPr>
              <a:t>assays</a:t>
            </a:r>
            <a:r>
              <a:rPr lang="en-US" sz="3200" dirty="0">
                <a:solidFill>
                  <a:schemeClr val="bg2"/>
                </a:solidFill>
                <a:latin typeface="+mn-lt"/>
              </a:rPr>
              <a:t>, MS-runs, </a:t>
            </a:r>
            <a:r>
              <a:rPr lang="en-US" sz="3200" dirty="0" err="1">
                <a:solidFill>
                  <a:schemeClr val="bg2"/>
                </a:solidFill>
                <a:latin typeface="+mn-lt"/>
              </a:rPr>
              <a:t>study</a:t>
            </a:r>
            <a:r>
              <a:rPr lang="en-US" sz="3200" dirty="0">
                <a:solidFill>
                  <a:schemeClr val="bg2"/>
                </a:solidFill>
                <a:latin typeface="+mn-lt"/>
              </a:rPr>
              <a:t> variables, </a:t>
            </a:r>
            <a:r>
              <a:rPr lang="en-US" sz="3200" dirty="0" err="1">
                <a:solidFill>
                  <a:schemeClr val="bg2"/>
                </a:solidFill>
                <a:latin typeface="+mn-lt"/>
              </a:rPr>
              <a:t>quantification</a:t>
            </a:r>
            <a:endParaRPr lang="en-US" sz="3200" dirty="0">
              <a:solidFill>
                <a:schemeClr val="bg2"/>
              </a:solidFill>
              <a:latin typeface="+mn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2"/>
                </a:solidFill>
                <a:latin typeface="+mn-lt"/>
              </a:rPr>
              <a:t>MS </a:t>
            </a:r>
            <a:r>
              <a:rPr lang="en-US" sz="3200" dirty="0" err="1">
                <a:solidFill>
                  <a:schemeClr val="bg2"/>
                </a:solidFill>
                <a:latin typeface="+mn-lt"/>
              </a:rPr>
              <a:t>features</a:t>
            </a:r>
            <a:r>
              <a:rPr lang="en-US" sz="3200" dirty="0">
                <a:solidFill>
                  <a:schemeClr val="bg2"/>
                </a:solidFill>
                <a:latin typeface="+mn-lt"/>
              </a:rPr>
              <a:t>, e.g. m/</a:t>
            </a:r>
            <a:r>
              <a:rPr lang="en-US" sz="3200" dirty="0" err="1">
                <a:solidFill>
                  <a:schemeClr val="bg2"/>
                </a:solidFill>
                <a:latin typeface="+mn-lt"/>
              </a:rPr>
              <a:t>z</a:t>
            </a:r>
            <a:r>
              <a:rPr lang="en-US" sz="3200" dirty="0">
                <a:solidFill>
                  <a:schemeClr val="bg2"/>
                </a:solidFill>
                <a:latin typeface="+mn-lt"/>
              </a:rPr>
              <a:t>, RT, CCS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bg2"/>
                </a:solidFill>
                <a:latin typeface="+mn-lt"/>
              </a:rPr>
              <a:t>Identification</a:t>
            </a:r>
            <a:r>
              <a:rPr lang="en-US" sz="3200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sz="3200" dirty="0" err="1">
                <a:solidFill>
                  <a:schemeClr val="bg2"/>
                </a:solidFill>
                <a:latin typeface="+mn-lt"/>
              </a:rPr>
              <a:t>evidence</a:t>
            </a:r>
            <a:r>
              <a:rPr lang="en-US" sz="3200" dirty="0">
                <a:solidFill>
                  <a:schemeClr val="bg2"/>
                </a:solidFill>
                <a:latin typeface="+mn-lt"/>
              </a:rPr>
              <a:t>, e.g. DB </a:t>
            </a:r>
            <a:r>
              <a:rPr lang="en-US" sz="3200" dirty="0" err="1">
                <a:solidFill>
                  <a:schemeClr val="bg2"/>
                </a:solidFill>
                <a:latin typeface="+mn-lt"/>
              </a:rPr>
              <a:t>hits</a:t>
            </a:r>
            <a:r>
              <a:rPr lang="en-US" sz="3200" dirty="0">
                <a:solidFill>
                  <a:schemeClr val="bg2"/>
                </a:solidFill>
                <a:latin typeface="+mn-lt"/>
              </a:rPr>
              <a:t>, </a:t>
            </a:r>
            <a:r>
              <a:rPr lang="en-US" sz="3200" dirty="0" err="1">
                <a:solidFill>
                  <a:schemeClr val="bg2"/>
                </a:solidFill>
                <a:latin typeface="+mn-lt"/>
              </a:rPr>
              <a:t>similarities</a:t>
            </a:r>
            <a:r>
              <a:rPr lang="en-US" sz="3200" dirty="0">
                <a:solidFill>
                  <a:schemeClr val="bg2"/>
                </a:solidFill>
                <a:latin typeface="+mn-lt"/>
              </a:rPr>
              <a:t>, additional </a:t>
            </a:r>
            <a:r>
              <a:rPr lang="en-US" sz="3200" dirty="0" err="1">
                <a:solidFill>
                  <a:schemeClr val="bg2"/>
                </a:solidFill>
                <a:latin typeface="+mn-lt"/>
              </a:rPr>
              <a:t>info</a:t>
            </a:r>
            <a:r>
              <a:rPr lang="en-US" sz="3200" dirty="0">
                <a:solidFill>
                  <a:schemeClr val="bg2"/>
                </a:solidFill>
                <a:latin typeface="+mn-lt"/>
              </a:rPr>
              <a:t>, </a:t>
            </a:r>
            <a:r>
              <a:rPr lang="en-US" sz="3200" dirty="0" err="1">
                <a:solidFill>
                  <a:schemeClr val="bg2"/>
                </a:solidFill>
                <a:latin typeface="+mn-lt"/>
              </a:rPr>
              <a:t>reference</a:t>
            </a:r>
            <a:r>
              <a:rPr lang="en-US" sz="3200" dirty="0">
                <a:solidFill>
                  <a:schemeClr val="bg2"/>
                </a:solidFill>
                <a:latin typeface="+mn-lt"/>
              </a:rPr>
              <a:t> MS </a:t>
            </a:r>
            <a:r>
              <a:rPr lang="en-US" sz="3200" dirty="0" err="1">
                <a:solidFill>
                  <a:schemeClr val="bg2"/>
                </a:solidFill>
                <a:latin typeface="+mn-lt"/>
              </a:rPr>
              <a:t>scans</a:t>
            </a:r>
            <a:r>
              <a:rPr lang="en-US" sz="3200" dirty="0">
                <a:solidFill>
                  <a:schemeClr val="bg2"/>
                </a:solidFill>
                <a:latin typeface="+mn-lt"/>
              </a:rPr>
              <a:t> in </a:t>
            </a:r>
            <a:r>
              <a:rPr lang="en-US" sz="3200" dirty="0" err="1">
                <a:solidFill>
                  <a:schemeClr val="bg2"/>
                </a:solidFill>
                <a:latin typeface="+mn-lt"/>
              </a:rPr>
              <a:t>run</a:t>
            </a:r>
            <a:r>
              <a:rPr lang="en-US" sz="3200" dirty="0">
                <a:solidFill>
                  <a:schemeClr val="bg2"/>
                </a:solidFill>
                <a:latin typeface="+mn-lt"/>
              </a:rPr>
              <a:t> (</a:t>
            </a:r>
            <a:r>
              <a:rPr lang="en-US" sz="3200" dirty="0" err="1">
                <a:solidFill>
                  <a:schemeClr val="bg2"/>
                </a:solidFill>
                <a:latin typeface="+mn-lt"/>
              </a:rPr>
              <a:t>mzML</a:t>
            </a:r>
            <a:r>
              <a:rPr lang="en-US" sz="3200" dirty="0">
                <a:solidFill>
                  <a:schemeClr val="bg2"/>
                </a:solidFill>
                <a:latin typeface="+mn-lt"/>
              </a:rPr>
              <a:t>)</a:t>
            </a:r>
          </a:p>
        </p:txBody>
      </p:sp>
      <p:sp>
        <p:nvSpPr>
          <p:cNvPr id="120" name="Cons_3">
            <a:extLst>
              <a:ext uri="{FF2B5EF4-FFF2-40B4-BE49-F238E27FC236}">
                <a16:creationId xmlns:a16="http://schemas.microsoft.com/office/drawing/2014/main" id="{E75C7450-3F1E-58BE-D864-7CF643084B23}"/>
              </a:ext>
            </a:extLst>
          </p:cNvPr>
          <p:cNvSpPr/>
          <p:nvPr/>
        </p:nvSpPr>
        <p:spPr>
          <a:xfrm>
            <a:off x="15278100" y="14597303"/>
            <a:ext cx="3873500" cy="662524"/>
          </a:xfrm>
          <a:prstGeom prst="roundRect">
            <a:avLst>
              <a:gd name="adj" fmla="val 25000"/>
            </a:avLst>
          </a:prstGeom>
          <a:solidFill>
            <a:srgbClr val="7B1FA2"/>
          </a:solidFill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ource Sans Pro"/>
              </a:rPr>
              <a:t>MetaboLights</a:t>
            </a:r>
          </a:p>
        </p:txBody>
      </p:sp>
      <p:sp>
        <p:nvSpPr>
          <p:cNvPr id="121" name="Cons_5">
            <a:extLst>
              <a:ext uri="{FF2B5EF4-FFF2-40B4-BE49-F238E27FC236}">
                <a16:creationId xmlns:a16="http://schemas.microsoft.com/office/drawing/2014/main" id="{31B8372F-B236-377E-D574-691714DCD004}"/>
              </a:ext>
            </a:extLst>
          </p:cNvPr>
          <p:cNvSpPr/>
          <p:nvPr/>
        </p:nvSpPr>
        <p:spPr>
          <a:xfrm>
            <a:off x="24739600" y="14644487"/>
            <a:ext cx="3873500" cy="635000"/>
          </a:xfrm>
          <a:prstGeom prst="roundRect">
            <a:avLst/>
          </a:prstGeom>
          <a:solidFill>
            <a:srgbClr val="7B1FA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2600" b="1" dirty="0" err="1">
                <a:solidFill>
                  <a:srgbClr val="FFFFFF"/>
                </a:solidFill>
                <a:latin typeface="Source Sans Pro"/>
                <a:ea typeface="Source Sans Pro"/>
              </a:rPr>
              <a:t>MassBank</a:t>
            </a:r>
            <a:endParaRPr lang="en-US" sz="2600" b="1" dirty="0">
              <a:solidFill>
                <a:srgbClr val="FFFFFF"/>
              </a:solidFill>
              <a:latin typeface="Source Sans Pro"/>
              <a:ea typeface="Source Sans Pro"/>
            </a:endParaRPr>
          </a:p>
        </p:txBody>
      </p:sp>
      <p:sp>
        <p:nvSpPr>
          <p:cNvPr id="122" name="Textfeld 121">
            <a:extLst>
              <a:ext uri="{FF2B5EF4-FFF2-40B4-BE49-F238E27FC236}">
                <a16:creationId xmlns:a16="http://schemas.microsoft.com/office/drawing/2014/main" id="{C1743DE3-48DB-782E-B1B3-3ED905FEEEA8}"/>
              </a:ext>
            </a:extLst>
          </p:cNvPr>
          <p:cNvSpPr txBox="1"/>
          <p:nvPr/>
        </p:nvSpPr>
        <p:spPr>
          <a:xfrm>
            <a:off x="15278100" y="19394997"/>
            <a:ext cx="133349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3"/>
                </a:solidFill>
                <a:latin typeface="+mn-lt"/>
              </a:rPr>
              <a:t>mzTab-M 2.1 is a working draft. Implementation status varies by tool — see developer pages for current support.</a:t>
            </a:r>
          </a:p>
        </p:txBody>
      </p:sp>
      <p:sp>
        <p:nvSpPr>
          <p:cNvPr id="1030" name="ProducerLabel">
            <a:extLst>
              <a:ext uri="{FF2B5EF4-FFF2-40B4-BE49-F238E27FC236}">
                <a16:creationId xmlns:a16="http://schemas.microsoft.com/office/drawing/2014/main" id="{5636FF79-E575-E801-1A93-A8A8948108BE}"/>
              </a:ext>
            </a:extLst>
          </p:cNvPr>
          <p:cNvSpPr/>
          <p:nvPr/>
        </p:nvSpPr>
        <p:spPr>
          <a:xfrm>
            <a:off x="20389829" y="8644322"/>
            <a:ext cx="31750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4000" b="1" dirty="0">
                <a:solidFill>
                  <a:schemeClr val="accent1"/>
                </a:solidFill>
                <a:latin typeface="Montserrat"/>
              </a:rPr>
              <a:t>Libraries</a:t>
            </a:r>
          </a:p>
        </p:txBody>
      </p:sp>
      <p:sp>
        <p:nvSpPr>
          <p:cNvPr id="1031" name="Textfeld 1030">
            <a:extLst>
              <a:ext uri="{FF2B5EF4-FFF2-40B4-BE49-F238E27FC236}">
                <a16:creationId xmlns:a16="http://schemas.microsoft.com/office/drawing/2014/main" id="{286DE2BC-AFA3-DAD9-C1DC-C1C7893C202B}"/>
              </a:ext>
            </a:extLst>
          </p:cNvPr>
          <p:cNvSpPr txBox="1"/>
          <p:nvPr/>
        </p:nvSpPr>
        <p:spPr>
          <a:xfrm>
            <a:off x="20188555" y="9816239"/>
            <a:ext cx="35140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+mn-lt"/>
              </a:rPr>
              <a:t>Java 	     (</a:t>
            </a:r>
            <a:r>
              <a:rPr lang="en-US" sz="2800" b="1" dirty="0" err="1">
                <a:solidFill>
                  <a:schemeClr val="accent1"/>
                </a:solidFill>
                <a:latin typeface="+mn-lt"/>
              </a:rPr>
              <a:t>jmzTab</a:t>
            </a:r>
            <a:r>
              <a:rPr lang="en-US" sz="2800" b="1" dirty="0">
                <a:solidFill>
                  <a:schemeClr val="accent1"/>
                </a:solidFill>
                <a:latin typeface="+mn-lt"/>
              </a:rPr>
              <a:t>-M)</a:t>
            </a:r>
          </a:p>
          <a:p>
            <a:r>
              <a:rPr lang="en-US" sz="2800" b="1" dirty="0">
                <a:solidFill>
                  <a:schemeClr val="accent1"/>
                </a:solidFill>
                <a:latin typeface="+mn-lt"/>
              </a:rPr>
              <a:t>Python (</a:t>
            </a:r>
            <a:r>
              <a:rPr lang="en-US" sz="2800" b="1" dirty="0" err="1">
                <a:solidFill>
                  <a:schemeClr val="accent1"/>
                </a:solidFill>
                <a:latin typeface="+mn-lt"/>
              </a:rPr>
              <a:t>pymztab</a:t>
            </a:r>
            <a:r>
              <a:rPr lang="en-US" sz="2800" b="1" dirty="0">
                <a:solidFill>
                  <a:schemeClr val="accent1"/>
                </a:solidFill>
                <a:latin typeface="+mn-lt"/>
              </a:rPr>
              <a:t>-m)</a:t>
            </a:r>
          </a:p>
          <a:p>
            <a:r>
              <a:rPr lang="en-US" sz="2800" b="1" dirty="0">
                <a:solidFill>
                  <a:schemeClr val="accent1"/>
                </a:solidFill>
                <a:latin typeface="+mn-lt"/>
              </a:rPr>
              <a:t>R              (</a:t>
            </a:r>
            <a:r>
              <a:rPr lang="en-US" sz="2800" b="1" dirty="0" err="1">
                <a:solidFill>
                  <a:schemeClr val="accent1"/>
                </a:solidFill>
                <a:latin typeface="+mn-lt"/>
              </a:rPr>
              <a:t>RmzTabM</a:t>
            </a:r>
            <a:r>
              <a:rPr lang="en-US" sz="2800" b="1" dirty="0">
                <a:solidFill>
                  <a:schemeClr val="accent1"/>
                </a:solidFill>
                <a:latin typeface="+mn-lt"/>
              </a:rPr>
              <a:t>)</a:t>
            </a:r>
          </a:p>
        </p:txBody>
      </p:sp>
      <p:grpSp>
        <p:nvGrpSpPr>
          <p:cNvPr id="1034" name="Gruppieren 1033">
            <a:extLst>
              <a:ext uri="{FF2B5EF4-FFF2-40B4-BE49-F238E27FC236}">
                <a16:creationId xmlns:a16="http://schemas.microsoft.com/office/drawing/2014/main" id="{C9F622BB-0846-0776-B2B0-EED497446A2F}"/>
              </a:ext>
            </a:extLst>
          </p:cNvPr>
          <p:cNvGrpSpPr/>
          <p:nvPr/>
        </p:nvGrpSpPr>
        <p:grpSpPr>
          <a:xfrm>
            <a:off x="21485203" y="11765145"/>
            <a:ext cx="920750" cy="1436044"/>
            <a:chOff x="21480704" y="11223435"/>
            <a:chExt cx="920750" cy="1436044"/>
          </a:xfrm>
          <a:solidFill>
            <a:schemeClr val="accent2">
              <a:alpha val="32941"/>
            </a:schemeClr>
          </a:solidFill>
        </p:grpSpPr>
        <p:sp>
          <p:nvSpPr>
            <p:cNvPr id="1032" name="LeftArrow">
              <a:extLst>
                <a:ext uri="{FF2B5EF4-FFF2-40B4-BE49-F238E27FC236}">
                  <a16:creationId xmlns:a16="http://schemas.microsoft.com/office/drawing/2014/main" id="{3A39887B-15E0-51F7-D3AB-3E4B13E1706B}"/>
                </a:ext>
              </a:extLst>
            </p:cNvPr>
            <p:cNvSpPr/>
            <p:nvPr/>
          </p:nvSpPr>
          <p:spPr>
            <a:xfrm rot="5400000">
              <a:off x="21581669" y="11839694"/>
              <a:ext cx="718820" cy="920750"/>
            </a:xfrm>
            <a:prstGeom prst="rightArrow">
              <a:avLst/>
            </a:prstGeom>
            <a:grpFill/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3" name="LeftArrow">
              <a:extLst>
                <a:ext uri="{FF2B5EF4-FFF2-40B4-BE49-F238E27FC236}">
                  <a16:creationId xmlns:a16="http://schemas.microsoft.com/office/drawing/2014/main" id="{0DB7CF01-526F-B43A-9922-D455B62FC135}"/>
                </a:ext>
              </a:extLst>
            </p:cNvPr>
            <p:cNvSpPr/>
            <p:nvPr/>
          </p:nvSpPr>
          <p:spPr>
            <a:xfrm rot="16200000">
              <a:off x="21581669" y="11122470"/>
              <a:ext cx="718820" cy="920750"/>
            </a:xfrm>
            <a:prstGeom prst="rightArrow">
              <a:avLst/>
            </a:prstGeom>
            <a:grpFill/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35" name="Richtungspfeil 1034">
            <a:extLst>
              <a:ext uri="{FF2B5EF4-FFF2-40B4-BE49-F238E27FC236}">
                <a16:creationId xmlns:a16="http://schemas.microsoft.com/office/drawing/2014/main" id="{76CD9ADA-1551-5D68-3DFC-997CDC99D5CF}"/>
              </a:ext>
            </a:extLst>
          </p:cNvPr>
          <p:cNvSpPr/>
          <p:nvPr/>
        </p:nvSpPr>
        <p:spPr>
          <a:xfrm>
            <a:off x="19218712" y="9816239"/>
            <a:ext cx="690217" cy="6267957"/>
          </a:xfrm>
          <a:prstGeom prst="homePlate">
            <a:avLst>
              <a:gd name="adj" fmla="val 50000"/>
            </a:avLst>
          </a:prstGeom>
          <a:solidFill>
            <a:srgbClr val="00897B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6" name="Richtungspfeil 1035">
            <a:extLst>
              <a:ext uri="{FF2B5EF4-FFF2-40B4-BE49-F238E27FC236}">
                <a16:creationId xmlns:a16="http://schemas.microsoft.com/office/drawing/2014/main" id="{902856FD-9D95-AB72-4A00-36DD6EE105D3}"/>
              </a:ext>
            </a:extLst>
          </p:cNvPr>
          <p:cNvSpPr/>
          <p:nvPr/>
        </p:nvSpPr>
        <p:spPr>
          <a:xfrm>
            <a:off x="24051874" y="9816239"/>
            <a:ext cx="616703" cy="6267957"/>
          </a:xfrm>
          <a:prstGeom prst="homePlate">
            <a:avLst/>
          </a:prstGeom>
          <a:solidFill>
            <a:srgbClr val="00897B">
              <a:alpha val="32549"/>
            </a:srgb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Textfeld 1037">
            <a:extLst>
              <a:ext uri="{FF2B5EF4-FFF2-40B4-BE49-F238E27FC236}">
                <a16:creationId xmlns:a16="http://schemas.microsoft.com/office/drawing/2014/main" id="{95E86C8B-360A-0190-117F-28EBA14AFA35}"/>
              </a:ext>
            </a:extLst>
          </p:cNvPr>
          <p:cNvSpPr txBox="1"/>
          <p:nvPr/>
        </p:nvSpPr>
        <p:spPr>
          <a:xfrm>
            <a:off x="15278100" y="16925398"/>
            <a:ext cx="133349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Source Sans Pro"/>
              </a:rPr>
              <a:t>Implementation Efforts</a:t>
            </a:r>
          </a:p>
          <a:p>
            <a:pPr marL="571500" indent="-57150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2"/>
                </a:solidFill>
                <a:latin typeface="Source Sans Pro"/>
              </a:rPr>
              <a:t>Through regular group meetings and (virtual) hackathons, tool and database &amp; repository developers receive direct development support to ensure </a:t>
            </a:r>
            <a:r>
              <a:rPr lang="en-US" sz="3600" dirty="0" err="1">
                <a:solidFill>
                  <a:schemeClr val="bg2"/>
                </a:solidFill>
                <a:latin typeface="Source Sans Pro"/>
              </a:rPr>
              <a:t>mzTab</a:t>
            </a:r>
            <a:r>
              <a:rPr lang="en-US" sz="3600" dirty="0">
                <a:solidFill>
                  <a:schemeClr val="bg2"/>
                </a:solidFill>
                <a:latin typeface="Source Sans Pro"/>
              </a:rPr>
              <a:t>-M standard compliance</a:t>
            </a:r>
          </a:p>
        </p:txBody>
      </p:sp>
      <p:sp>
        <p:nvSpPr>
          <p:cNvPr id="1039" name="Cons_5">
            <a:extLst>
              <a:ext uri="{FF2B5EF4-FFF2-40B4-BE49-F238E27FC236}">
                <a16:creationId xmlns:a16="http://schemas.microsoft.com/office/drawing/2014/main" id="{07DEECF7-A918-CE78-5E5C-EDAE0E7E80DB}"/>
              </a:ext>
            </a:extLst>
          </p:cNvPr>
          <p:cNvSpPr/>
          <p:nvPr/>
        </p:nvSpPr>
        <p:spPr>
          <a:xfrm>
            <a:off x="24739600" y="15449196"/>
            <a:ext cx="3873500" cy="63500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Source Sans Pro"/>
                <a:ea typeface="Source Sans Pro"/>
              </a:rPr>
              <a:t>...</a:t>
            </a:r>
          </a:p>
        </p:txBody>
      </p:sp>
      <p:sp>
        <p:nvSpPr>
          <p:cNvPr id="1040" name="Cons_3">
            <a:extLst>
              <a:ext uri="{FF2B5EF4-FFF2-40B4-BE49-F238E27FC236}">
                <a16:creationId xmlns:a16="http://schemas.microsoft.com/office/drawing/2014/main" id="{9541C9B9-A030-496B-5918-4206538B8691}"/>
              </a:ext>
            </a:extLst>
          </p:cNvPr>
          <p:cNvSpPr/>
          <p:nvPr/>
        </p:nvSpPr>
        <p:spPr>
          <a:xfrm>
            <a:off x="15278100" y="15421672"/>
            <a:ext cx="3873500" cy="662524"/>
          </a:xfrm>
          <a:prstGeom prst="roundRect">
            <a:avLst>
              <a:gd name="adj" fmla="val 25000"/>
            </a:avLst>
          </a:prstGeom>
          <a:solidFill>
            <a:schemeClr val="bg1">
              <a:lumMod val="75000"/>
            </a:schemeClr>
          </a:solidFill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ource Sans Pro"/>
              </a:rPr>
              <a:t>...</a:t>
            </a:r>
          </a:p>
        </p:txBody>
      </p:sp>
      <p:pic>
        <p:nvPicPr>
          <p:cNvPr id="1051" name="Grafik 1050">
            <a:extLst>
              <a:ext uri="{FF2B5EF4-FFF2-40B4-BE49-F238E27FC236}">
                <a16:creationId xmlns:a16="http://schemas.microsoft.com/office/drawing/2014/main" id="{D6577FAF-E5DC-79E8-D6A0-8F1D8F4A94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58999" y="28738286"/>
            <a:ext cx="3476622" cy="347662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2201452-ACC6-C3D2-F5A5-A03D6CFCE2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917400" y="22478924"/>
            <a:ext cx="3695657" cy="528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957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 [1776318789490]">
  <a:themeElements>
    <a:clrScheme name="Simple Light">
      <a:dk1>
        <a:srgbClr val="1A1A2E"/>
      </a:dk1>
      <a:lt1>
        <a:srgbClr val="FFFFFF"/>
      </a:lt1>
      <a:dk2>
        <a:srgbClr val="16213E"/>
      </a:dk2>
      <a:lt2>
        <a:srgbClr val="F0F4F8"/>
      </a:lt2>
      <a:accent1>
        <a:srgbClr val="0F4C81"/>
      </a:accent1>
      <a:accent2>
        <a:srgbClr val="00897B"/>
      </a:accent2>
      <a:accent3>
        <a:srgbClr val="E65100"/>
      </a:accent3>
      <a:accent4>
        <a:srgbClr val="7B1FA2"/>
      </a:accent4>
      <a:accent5>
        <a:srgbClr val="2E7D32"/>
      </a:accent5>
      <a:accent6>
        <a:srgbClr val="C62828"/>
      </a:accent6>
      <a:hlink>
        <a:srgbClr val="0097A7"/>
      </a:hlink>
      <a:folHlink>
        <a:srgbClr val="0097A7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ource Sans Pr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2AB9E91-1A1B-C448-BD6D-D8C1C53A25F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f21903f-e269-4cb8-872e-5d0e1a3eca2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1202</Words>
  <Application>Microsoft Macintosh PowerPoint</Application>
  <PresentationFormat>Benutzerdefiniert</PresentationFormat>
  <Paragraphs>142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8" baseType="lpstr">
      <vt:lpstr>Arial</vt:lpstr>
      <vt:lpstr>Calibri</vt:lpstr>
      <vt:lpstr>Montserrat</vt:lpstr>
      <vt:lpstr>Roboto</vt:lpstr>
      <vt:lpstr>Source Sans Pro</vt:lpstr>
      <vt:lpstr>Wingdings</vt:lpstr>
      <vt:lpstr>Simple Light [1776318789490]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Hoffmann, Nils</cp:lastModifiedBy>
  <cp:revision>21</cp:revision>
  <dcterms:modified xsi:type="dcterms:W3CDTF">2026-05-26T09:43:29Z</dcterms:modified>
</cp:coreProperties>
</file>